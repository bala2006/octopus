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Vivek - thanks for the time. In the next few minutes I'll show you Octopus: instead of one AI coding chat, it's a full company of agents - a CEO, PM, engineers, a reviewer and QA - working together inside a folder on your laptop. Everything you'll see is real, local and already built.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is crowded with single-agent copilots. They're smart but unstructured: the human ends up being the project manager, the reviewer and the QA lead. And there's no audit trail or cost visibility. We think the missing layer is organization, not more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pick a folder - that's the sandbox - pick one of 14 team templates, and type a goal like 'build a todo app with login'. The agents plan, argue, delegate and code. Files land in your real folder, and .octopus/ keeps all state locally, the way .git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loop. A goal enters the entry agent's mailbox; the team debates a plan - consensus has to be explicit, both sides must agree - then engineers write files in the sandbox, an architect reviews with itemized comments, and QA actually runs the tests. Everything is a validated action, enforced server-side, and recorded so you can scrub back through the timeline.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surfaces make this a product: the org canvas where you design the company, the live run view where you watch and intervene, runs-as-chats so work accumulates instead of restarting, and artifacts where every change is versioned and previewable.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Autonomy is a dial, not a switch. read_only can't touch anything, plan writes to a shadow you apply later, ask blocks on your approval with a full diff, danger is unrestricted. Budgets and the loop detector are backstops, and commands run with no shell, rlimits and no network by default.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deployment, wired properly: the v1 Responses API, reasoning effort as a first-class control, and usage read straight from Azure rather than estimated - so the cost meter is exact, down to cache writes. You can see spend in rupees, dollars or any currency. And if you don't connect a key at all, Demo Mode still runs a full company offline.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prototype. 23,000+ lines across backend and frontend, migrations, a generated typed API client, unit tests, end-to-end Playwright tests that continue a finished run, CI on every push and CD publishing container images. It also runs with no CDN at all, so it works fully offline.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I've shown is in the repo today: the demo video is recorded from the real app, the test suite runs on every push, and a new contributor is one make command away from a running company.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Octopus is a platform, not a coding toy. The org abstraction already generalizes - we ship templates for content, research and support. The roadmap is a team marketplace plus a hosted control plane, while keeping the folder as the portable source of truth.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asks: be the first power user and give me brutal product feedback; make a handful of intros to teams who'd use this daily; and advise us on pricing and GTM. In return you get the roadmap, the metrics, and a team that ships every week.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Octopus: an AI company in one folder - structured, supervised and local. I'd love to get you into it this week. What's the best next step for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41413"/>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85800"/>
            <a:ext cx="146304" cy="146304"/>
          </a:xfrm>
          <a:prstGeom prst="rect">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24128" y="649224"/>
            <a:ext cx="7315200" cy="274320"/>
          </a:xfrm>
          <a:prstGeom prst="rect">
            <a:avLst/>
          </a:prstGeom>
          <a:noFill/>
        </p:spPr>
        <p:txBody>
          <a:bodyPr wrap="square" anchor="t" lIns="0" rIns="0" tIns="0" bIns="0">
            <a:spAutoFit/>
          </a:bodyPr>
          <a:lstStyle/>
          <a:p>
            <a:r>
              <a:rPr sz="1100" b="1" i="0" spc="220">
                <a:solidFill>
                  <a:srgbClr val="D97756"/>
                </a:solidFill>
                <a:latin typeface="Arial"/>
              </a:rPr>
              <a:t>PITCH  ·  PREPARED FOR VIVEK</a:t>
            </a:r>
          </a:p>
        </p:txBody>
      </p:sp>
      <p:sp>
        <p:nvSpPr>
          <p:cNvPr id="6" name="TextBox 5"/>
          <p:cNvSpPr txBox="1"/>
          <p:nvPr/>
        </p:nvSpPr>
        <p:spPr>
          <a:xfrm>
            <a:off x="731520" y="1828800"/>
            <a:ext cx="10728655" cy="1463040"/>
          </a:xfrm>
          <a:prstGeom prst="rect">
            <a:avLst/>
          </a:prstGeom>
          <a:noFill/>
        </p:spPr>
        <p:txBody>
          <a:bodyPr wrap="square" anchor="t" lIns="0" rIns="0" tIns="0" bIns="0">
            <a:spAutoFit/>
          </a:bodyPr>
          <a:lstStyle/>
          <a:p>
            <a:r>
              <a:rPr sz="9600" b="1" i="0" spc="-60">
                <a:solidFill>
                  <a:srgbClr val="F5F4EE"/>
                </a:solidFill>
                <a:latin typeface="Arial"/>
              </a:rPr>
              <a:t>Octopus</a:t>
            </a:r>
          </a:p>
        </p:txBody>
      </p:sp>
      <p:sp>
        <p:nvSpPr>
          <p:cNvPr id="7" name="TextBox 6"/>
          <p:cNvSpPr txBox="1"/>
          <p:nvPr/>
        </p:nvSpPr>
        <p:spPr>
          <a:xfrm>
            <a:off x="731520" y="3246120"/>
            <a:ext cx="10728655" cy="640080"/>
          </a:xfrm>
          <a:prstGeom prst="rect">
            <a:avLst/>
          </a:prstGeom>
          <a:noFill/>
        </p:spPr>
        <p:txBody>
          <a:bodyPr wrap="square" anchor="t" lIns="0" rIns="0" tIns="0" bIns="0">
            <a:spAutoFit/>
          </a:bodyPr>
          <a:lstStyle/>
          <a:p>
            <a:r>
              <a:rPr sz="2700" b="1" i="0" spc="-10">
                <a:solidFill>
                  <a:srgbClr val="E9E8E5"/>
                </a:solidFill>
                <a:latin typeface="Arial"/>
              </a:rPr>
              <a:t>Your AI company, in one folder.</a:t>
            </a:r>
          </a:p>
        </p:txBody>
      </p:sp>
      <p:sp>
        <p:nvSpPr>
          <p:cNvPr id="8" name="Rounded Rectangle 7"/>
          <p:cNvSpPr/>
          <p:nvPr/>
        </p:nvSpPr>
        <p:spPr>
          <a:xfrm>
            <a:off x="731520" y="4041648"/>
            <a:ext cx="1463040" cy="54864"/>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343400"/>
            <a:ext cx="10728655" cy="365760"/>
          </a:xfrm>
          <a:prstGeom prst="rect">
            <a:avLst/>
          </a:prstGeom>
          <a:noFill/>
        </p:spPr>
        <p:txBody>
          <a:bodyPr wrap="square" anchor="t" lIns="0" rIns="0" tIns="0" bIns="0">
            <a:spAutoFit/>
          </a:bodyPr>
          <a:lstStyle/>
          <a:p>
            <a:r>
              <a:rPr sz="1400" b="0" i="0">
                <a:solidFill>
                  <a:srgbClr val="A9A69E"/>
                </a:solidFill>
                <a:latin typeface="Arial"/>
              </a:rPr>
              <a:t>A pitch prepared for Vivek  ·  September 2026</a:t>
            </a:r>
          </a:p>
        </p:txBody>
      </p:sp>
      <p:sp>
        <p:nvSpPr>
          <p:cNvPr id="10" name="Rounded Rectangle 9"/>
          <p:cNvSpPr/>
          <p:nvPr/>
        </p:nvSpPr>
        <p:spPr>
          <a:xfrm>
            <a:off x="731520" y="4983480"/>
            <a:ext cx="1366250"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Local-first</a:t>
            </a:r>
          </a:p>
        </p:txBody>
      </p:sp>
      <p:sp>
        <p:nvSpPr>
          <p:cNvPr id="11" name="Rounded Rectangle 10"/>
          <p:cNvSpPr/>
          <p:nvPr/>
        </p:nvSpPr>
        <p:spPr>
          <a:xfrm>
            <a:off x="2244074" y="4983480"/>
            <a:ext cx="2437744"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Azure OpenAI gpt-6-luna</a:t>
            </a:r>
          </a:p>
        </p:txBody>
      </p:sp>
      <p:sp>
        <p:nvSpPr>
          <p:cNvPr id="12" name="Rounded Rectangle 11"/>
          <p:cNvSpPr/>
          <p:nvPr/>
        </p:nvSpPr>
        <p:spPr>
          <a:xfrm>
            <a:off x="4828122" y="4983480"/>
            <a:ext cx="2080580"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Demo Mode · no keys</a:t>
            </a:r>
          </a:p>
        </p:txBody>
      </p:sp>
      <p:sp>
        <p:nvSpPr>
          <p:cNvPr id="13" name="Rounded Rectangle 12"/>
          <p:cNvSpPr/>
          <p:nvPr/>
        </p:nvSpPr>
        <p:spPr>
          <a:xfrm>
            <a:off x="7055006" y="4983480"/>
            <a:ext cx="1812706"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Runs on a laptop</a:t>
            </a:r>
          </a:p>
        </p:txBody>
      </p:sp>
      <p:sp>
        <p:nvSpPr>
          <p:cNvPr id="14" name="TextBox 13"/>
          <p:cNvSpPr txBox="1"/>
          <p:nvPr/>
        </p:nvSpPr>
        <p:spPr>
          <a:xfrm>
            <a:off x="731520" y="6035040"/>
            <a:ext cx="10728655" cy="320040"/>
          </a:xfrm>
          <a:prstGeom prst="rect">
            <a:avLst/>
          </a:prstGeom>
          <a:noFill/>
        </p:spPr>
        <p:txBody>
          <a:bodyPr wrap="square" anchor="t" lIns="0" rIns="0" tIns="0" bIns="0">
            <a:spAutoFit/>
          </a:bodyPr>
          <a:lstStyle/>
          <a:p>
            <a:r>
              <a:rPr sz="1200" b="1" i="0">
                <a:solidFill>
                  <a:srgbClr val="66839A"/>
                </a:solidFill>
                <a:latin typeface="Arial"/>
              </a:rPr>
              <a:t>github.com/bala2006/octopus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THE PROBLEM</a:t>
            </a:r>
          </a:p>
        </p:txBody>
      </p:sp>
      <p:sp>
        <p:nvSpPr>
          <p:cNvPr id="5" name="TextBox 4"/>
          <p:cNvSpPr txBox="1"/>
          <p:nvPr/>
        </p:nvSpPr>
        <p:spPr>
          <a:xfrm>
            <a:off x="731520" y="868680"/>
            <a:ext cx="10728655" cy="1828800"/>
          </a:xfrm>
          <a:prstGeom prst="rect">
            <a:avLst/>
          </a:prstGeom>
          <a:noFill/>
        </p:spPr>
        <p:txBody>
          <a:bodyPr wrap="square" anchor="t" lIns="0" rIns="0" tIns="0" bIns="0">
            <a:spAutoFit/>
          </a:bodyPr>
          <a:lstStyle/>
          <a:p>
            <a:pPr>
              <a:lnSpc>
                <a:spcPct val="105000"/>
              </a:lnSpc>
            </a:pPr>
            <a:r>
              <a:rPr sz="3100" b="1" i="0" spc="-15">
                <a:solidFill>
                  <a:srgbClr val="F5F4EE"/>
                </a:solidFill>
                <a:latin typeface="Arial"/>
              </a:rPr>
              <a:t>Software is a team sport.</a:t>
            </a:r>
          </a:p>
          <a:p>
            <a:pPr>
              <a:lnSpc>
                <a:spcPct val="105000"/>
              </a:lnSpc>
            </a:pPr>
            <a:r>
              <a:rPr sz="3100" b="1" i="0" spc="-15">
                <a:solidFill>
                  <a:srgbClr val="F5F4EE"/>
                </a:solidFill>
                <a:latin typeface="Arial"/>
              </a:rPr>
              <a:t>AI tooling forgot that.</a:t>
            </a:r>
          </a:p>
        </p:txBody>
      </p:sp>
      <p:sp>
        <p:nvSpPr>
          <p:cNvPr id="6" name="Rounded Rectangle 5"/>
          <p:cNvSpPr/>
          <p:nvPr/>
        </p:nvSpPr>
        <p:spPr>
          <a:xfrm>
            <a:off x="731520" y="2148840"/>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02 / 12</a:t>
            </a:r>
          </a:p>
        </p:txBody>
      </p:sp>
      <p:sp>
        <p:nvSpPr>
          <p:cNvPr id="10" name="TextBox 9"/>
          <p:cNvSpPr txBox="1"/>
          <p:nvPr/>
        </p:nvSpPr>
        <p:spPr>
          <a:xfrm>
            <a:off x="731520" y="2414016"/>
            <a:ext cx="6766560" cy="3657600"/>
          </a:xfrm>
          <a:prstGeom prst="rect">
            <a:avLst/>
          </a:prstGeom>
          <a:noFill/>
        </p:spPr>
        <p:txBody>
          <a:bodyPr wrap="square" anchor="t" lIns="0" rIns="0" tIns="0" bIns="0">
            <a:spAutoFit/>
          </a:bodyPr>
          <a:lstStyle/>
          <a:p>
            <a:pPr marL="219456" indent="-219456">
              <a:lnSpc>
                <a:spcPct val="124000"/>
              </a:lnSpc>
              <a:spcAft>
                <a:spcPts val="1100"/>
              </a:spcAft>
              <a:buClr>
                <a:srgbClr val="D97756"/>
              </a:buClr>
              <a:buFont typeface="Arial"/>
              <a:buChar char="•"/>
            </a:pPr>
            <a:r>
              <a:rPr sz="1400" b="1" i="0">
                <a:solidFill>
                  <a:srgbClr val="F5F4EE"/>
                </a:solidFill>
                <a:latin typeface="Arial"/>
              </a:rPr>
              <a:t>One chat window.</a:t>
            </a:r>
            <a:r>
              <a:rPr sz="1400" b="0" i="0">
                <a:solidFill>
                  <a:srgbClr val="A9A69E"/>
                </a:solidFill>
                <a:latin typeface="Arial"/>
              </a:rPr>
              <a:t>  Every AI coding tool is a single agent with no structure - no roles, no channels, no org.</a:t>
            </a:r>
          </a:p>
          <a:p>
            <a:pPr marL="219456" indent="-219456">
              <a:lnSpc>
                <a:spcPct val="124000"/>
              </a:lnSpc>
              <a:spcAft>
                <a:spcPts val="1100"/>
              </a:spcAft>
              <a:buClr>
                <a:srgbClr val="D97756"/>
              </a:buClr>
              <a:buFont typeface="Arial"/>
              <a:buChar char="•"/>
            </a:pPr>
            <a:r>
              <a:rPr sz="1400" b="1" i="0">
                <a:solidFill>
                  <a:srgbClr val="F5F4EE"/>
                </a:solidFill>
                <a:latin typeface="Arial"/>
              </a:rPr>
              <a:t>You are the middleware.</a:t>
            </a:r>
            <a:r>
              <a:rPr sz="1400" b="0" i="0">
                <a:solidFill>
                  <a:srgbClr val="A9A69E"/>
                </a:solidFill>
                <a:latin typeface="Arial"/>
              </a:rPr>
              <a:t>  Planning, review and QA live in your head; you relay every message by hand.</a:t>
            </a:r>
          </a:p>
          <a:p>
            <a:pPr marL="219456" indent="-219456">
              <a:lnSpc>
                <a:spcPct val="124000"/>
              </a:lnSpc>
              <a:spcAft>
                <a:spcPts val="1100"/>
              </a:spcAft>
              <a:buClr>
                <a:srgbClr val="D97756"/>
              </a:buClr>
              <a:buFont typeface="Arial"/>
              <a:buChar char="•"/>
            </a:pPr>
            <a:r>
              <a:rPr sz="1400" b="1" i="0">
                <a:solidFill>
                  <a:srgbClr val="F5F4EE"/>
                </a:solidFill>
                <a:latin typeface="Arial"/>
              </a:rPr>
              <a:t>No accountability.</a:t>
            </a:r>
            <a:r>
              <a:rPr sz="1400" b="0" i="0">
                <a:solidFill>
                  <a:srgbClr val="A9A69E"/>
                </a:solidFill>
                <a:latin typeface="Arial"/>
              </a:rPr>
              <a:t>  Nothing delegates, reports or owns an outcome - the model just answers.</a:t>
            </a:r>
          </a:p>
          <a:p>
            <a:pPr marL="219456" indent="-219456">
              <a:lnSpc>
                <a:spcPct val="124000"/>
              </a:lnSpc>
              <a:spcAft>
                <a:spcPts val="1100"/>
              </a:spcAft>
              <a:buClr>
                <a:srgbClr val="D97756"/>
              </a:buClr>
              <a:buFont typeface="Arial"/>
              <a:buChar char="•"/>
            </a:pPr>
            <a:r>
              <a:rPr sz="1400" b="1" i="0">
                <a:solidFill>
                  <a:srgbClr val="F5F4EE"/>
                </a:solidFill>
                <a:latin typeface="Arial"/>
              </a:rPr>
              <a:t>No control surface.</a:t>
            </a:r>
            <a:r>
              <a:rPr sz="1400" b="0" i="0">
                <a:solidFill>
                  <a:srgbClr val="A9A69E"/>
                </a:solidFill>
                <a:latin typeface="Arial"/>
              </a:rPr>
              <a:t>  What ran, what changed and what it cost: nobody can produce the receipt.</a:t>
            </a:r>
          </a:p>
          <a:p>
            <a:pPr marL="219456" indent="-219456">
              <a:lnSpc>
                <a:spcPct val="124000"/>
              </a:lnSpc>
              <a:spcAft>
                <a:spcPts val="1100"/>
              </a:spcAft>
              <a:buClr>
                <a:srgbClr val="D97756"/>
              </a:buClr>
              <a:buFont typeface="Arial"/>
              <a:buChar char="•"/>
            </a:pPr>
            <a:r>
              <a:rPr sz="1400" b="1" i="0">
                <a:solidFill>
                  <a:srgbClr val="F5F4EE"/>
                </a:solidFill>
                <a:latin typeface="Arial"/>
              </a:rPr>
              <a:t>Cloud by default.</a:t>
            </a:r>
            <a:r>
              <a:rPr sz="1400" b="0" i="0">
                <a:solidFill>
                  <a:srgbClr val="A9A69E"/>
                </a:solidFill>
                <a:latin typeface="Arial"/>
              </a:rPr>
              <a:t>  Your code and your data leave the machine to get any of this.</a:t>
            </a:r>
          </a:p>
        </p:txBody>
      </p:sp>
      <p:sp>
        <p:nvSpPr>
          <p:cNvPr id="11" name="Rounded Rectangle 10"/>
          <p:cNvSpPr/>
          <p:nvPr/>
        </p:nvSpPr>
        <p:spPr>
          <a:xfrm>
            <a:off x="7818120" y="2148840"/>
            <a:ext cx="3639312" cy="3200400"/>
          </a:xfrm>
          <a:prstGeom prst="roundRect">
            <a:avLst>
              <a:gd name="adj" fmla="val 6000"/>
            </a:avLst>
          </a:prstGeom>
          <a:solidFill>
            <a:srgbClr val="2C2C2C"/>
          </a:solidFill>
          <a:ln w="12700">
            <a:solidFill>
              <a:srgbClr val="D97756"/>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lnSpc>
                <a:spcPct val="112000"/>
              </a:lnSpc>
            </a:pPr>
            <a:r>
              <a:rPr sz="1900" b="1" i="0">
                <a:solidFill>
                  <a:srgbClr val="F5F4EE"/>
                </a:solidFill>
                <a:latin typeface="Arial"/>
              </a:rPr>
              <a:t>The gap isn't intelligence.</a:t>
            </a:r>
          </a:p>
          <a:p>
            <a:pPr>
              <a:lnSpc>
                <a:spcPct val="112000"/>
              </a:lnSpc>
            </a:pPr>
            <a:r>
              <a:rPr sz="1900" b="1" i="0">
                <a:solidFill>
                  <a:srgbClr val="D97756"/>
                </a:solidFill>
                <a:latin typeface="Arial"/>
              </a:rPr>
              <a:t>It's organization.</a:t>
            </a:r>
          </a:p>
          <a:p>
            <a:pPr>
              <a:lnSpc>
                <a:spcPct val="130000"/>
              </a:lnSpc>
              <a:spcBef>
                <a:spcPts val="1400"/>
              </a:spcBef>
            </a:pPr>
            <a:r>
              <a:rPr sz="1200" b="0" i="0">
                <a:solidFill>
                  <a:srgbClr val="A9A69E"/>
                </a:solidFill>
                <a:latin typeface="Arial"/>
              </a:rPr>
              <a:t>Companies solved coordination 100 years ago: roles, channels, review, accountability. Software teams never got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THE IDEA</a:t>
            </a:r>
          </a:p>
        </p:txBody>
      </p:sp>
      <p:sp>
        <p:nvSpPr>
          <p:cNvPr id="5" name="TextBox 4"/>
          <p:cNvSpPr txBox="1"/>
          <p:nvPr/>
        </p:nvSpPr>
        <p:spPr>
          <a:xfrm>
            <a:off x="731520" y="868680"/>
            <a:ext cx="10728655" cy="914400"/>
          </a:xfrm>
          <a:prstGeom prst="rect">
            <a:avLst/>
          </a:prstGeom>
          <a:noFill/>
        </p:spPr>
        <p:txBody>
          <a:bodyPr wrap="square" anchor="t" lIns="0" rIns="0" tIns="0" bIns="0">
            <a:spAutoFit/>
          </a:bodyPr>
          <a:lstStyle/>
          <a:p>
            <a:pPr>
              <a:lnSpc>
                <a:spcPct val="105000"/>
              </a:lnSpc>
            </a:pPr>
            <a:r>
              <a:rPr sz="3300" b="1" i="0" spc="-15">
                <a:solidFill>
                  <a:srgbClr val="F5F4EE"/>
                </a:solidFill>
                <a:latin typeface="Arial"/>
              </a:rPr>
              <a:t>A small company of AI agents.</a:t>
            </a:r>
          </a:p>
        </p:txBody>
      </p:sp>
      <p:sp>
        <p:nvSpPr>
          <p:cNvPr id="6" name="Rounded Rectangle 5"/>
          <p:cNvSpPr/>
          <p:nvPr/>
        </p:nvSpPr>
        <p:spPr>
          <a:xfrm>
            <a:off x="731520" y="1581911"/>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03 / 12</a:t>
            </a:r>
          </a:p>
        </p:txBody>
      </p:sp>
      <p:sp>
        <p:nvSpPr>
          <p:cNvPr id="10" name="Rounded Rectangle 9"/>
          <p:cNvSpPr/>
          <p:nvPr/>
        </p:nvSpPr>
        <p:spPr>
          <a:xfrm>
            <a:off x="731520" y="1755647"/>
            <a:ext cx="651921"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CEO</a:t>
            </a:r>
          </a:p>
        </p:txBody>
      </p:sp>
      <p:sp>
        <p:nvSpPr>
          <p:cNvPr id="11" name="Rounded Rectangle 10"/>
          <p:cNvSpPr/>
          <p:nvPr/>
        </p:nvSpPr>
        <p:spPr>
          <a:xfrm>
            <a:off x="1511457" y="1755647"/>
            <a:ext cx="562630"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PM</a:t>
            </a:r>
          </a:p>
        </p:txBody>
      </p:sp>
      <p:sp>
        <p:nvSpPr>
          <p:cNvPr id="12" name="Rounded Rectangle 11"/>
          <p:cNvSpPr/>
          <p:nvPr/>
        </p:nvSpPr>
        <p:spPr>
          <a:xfrm>
            <a:off x="2202103" y="1755647"/>
            <a:ext cx="1098377"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Engineer</a:t>
            </a:r>
          </a:p>
        </p:txBody>
      </p:sp>
      <p:sp>
        <p:nvSpPr>
          <p:cNvPr id="13" name="Rounded Rectangle 12"/>
          <p:cNvSpPr/>
          <p:nvPr/>
        </p:nvSpPr>
        <p:spPr>
          <a:xfrm>
            <a:off x="3428496" y="1755647"/>
            <a:ext cx="1098377"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Reviewer</a:t>
            </a:r>
          </a:p>
        </p:txBody>
      </p:sp>
      <p:sp>
        <p:nvSpPr>
          <p:cNvPr id="14" name="Rounded Rectangle 13"/>
          <p:cNvSpPr/>
          <p:nvPr/>
        </p:nvSpPr>
        <p:spPr>
          <a:xfrm>
            <a:off x="4654889" y="1755647"/>
            <a:ext cx="562630"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QA</a:t>
            </a:r>
          </a:p>
        </p:txBody>
      </p:sp>
      <p:sp>
        <p:nvSpPr>
          <p:cNvPr id="15" name="TextBox 14"/>
          <p:cNvSpPr txBox="1"/>
          <p:nvPr/>
        </p:nvSpPr>
        <p:spPr>
          <a:xfrm>
            <a:off x="731520" y="2350007"/>
            <a:ext cx="6766560" cy="3291840"/>
          </a:xfrm>
          <a:prstGeom prst="rect">
            <a:avLst/>
          </a:prstGeom>
          <a:noFill/>
        </p:spPr>
        <p:txBody>
          <a:bodyPr wrap="square" anchor="t" lIns="0" rIns="0" tIns="0" bIns="0">
            <a:spAutoFit/>
          </a:bodyPr>
          <a:lstStyle/>
          <a:p>
            <a:pPr marL="219456" indent="-219456">
              <a:lnSpc>
                <a:spcPct val="124000"/>
              </a:lnSpc>
              <a:spcAft>
                <a:spcPts val="1100"/>
              </a:spcAft>
              <a:buClr>
                <a:srgbClr val="D97756"/>
              </a:buClr>
              <a:buFont typeface="Arial"/>
              <a:buChar char="•"/>
            </a:pPr>
            <a:r>
              <a:rPr sz="1450" b="1" i="0">
                <a:solidFill>
                  <a:srgbClr val="F5F4EE"/>
                </a:solidFill>
                <a:latin typeface="Arial"/>
              </a:rPr>
              <a:t>Pick a folder, pick a team, give it a goal.</a:t>
            </a:r>
            <a:r>
              <a:rPr sz="1450" b="0" i="0">
                <a:solidFill>
                  <a:srgbClr val="A9A69E"/>
                </a:solidFill>
                <a:latin typeface="Arial"/>
              </a:rPr>
              <a:t>  14 templates wire the org for you - or design one on the canvas.</a:t>
            </a:r>
          </a:p>
          <a:p>
            <a:pPr marL="219456" indent="-219456">
              <a:lnSpc>
                <a:spcPct val="124000"/>
              </a:lnSpc>
              <a:spcAft>
                <a:spcPts val="1100"/>
              </a:spcAft>
              <a:buClr>
                <a:srgbClr val="D97756"/>
              </a:buClr>
              <a:buFont typeface="Arial"/>
              <a:buChar char="•"/>
            </a:pPr>
            <a:r>
              <a:rPr sz="1450" b="1" i="0">
                <a:solidFill>
                  <a:srgbClr val="F5F4EE"/>
                </a:solidFill>
                <a:latin typeface="Arial"/>
              </a:rPr>
              <a:t>They do the work.</a:t>
            </a:r>
            <a:r>
              <a:rPr sz="1450" b="0" i="0">
                <a:solidFill>
                  <a:srgbClr val="A9A69E"/>
                </a:solidFill>
                <a:latin typeface="Arial"/>
              </a:rPr>
              <a:t>  Plan, debate and delegate along typed channels; write real files; review each other; run the tests.</a:t>
            </a:r>
          </a:p>
          <a:p>
            <a:pPr marL="219456" indent="-219456">
              <a:lnSpc>
                <a:spcPct val="124000"/>
              </a:lnSpc>
              <a:spcAft>
                <a:spcPts val="1100"/>
              </a:spcAft>
              <a:buClr>
                <a:srgbClr val="D97756"/>
              </a:buClr>
              <a:buFont typeface="Arial"/>
              <a:buChar char="•"/>
            </a:pPr>
            <a:r>
              <a:rPr sz="1450" b="1" i="0">
                <a:solidFill>
                  <a:srgbClr val="F5F4EE"/>
                </a:solidFill>
                <a:latin typeface="Arial"/>
              </a:rPr>
              <a:t>You stay the boss.</a:t>
            </a:r>
            <a:r>
              <a:rPr sz="1450" b="0" i="0">
                <a:solidFill>
                  <a:srgbClr val="A9A69E"/>
                </a:solidFill>
                <a:latin typeface="Arial"/>
              </a:rPr>
              <a:t>  Watch it live, approve risky steps, interject, and continue the run like a chat afterwards.</a:t>
            </a:r>
          </a:p>
        </p:txBody>
      </p:sp>
      <p:sp>
        <p:nvSpPr>
          <p:cNvPr id="16" name="Rounded Rectangle 15"/>
          <p:cNvSpPr/>
          <p:nvPr/>
        </p:nvSpPr>
        <p:spPr>
          <a:xfrm>
            <a:off x="7818120" y="1755647"/>
            <a:ext cx="3639312" cy="3108960"/>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Local-first by design</a:t>
            </a:r>
          </a:p>
          <a:p>
            <a:pPr>
              <a:lnSpc>
                <a:spcPct val="122000"/>
              </a:lnSpc>
              <a:spcBef>
                <a:spcPts val="600"/>
              </a:spcBef>
            </a:pPr>
            <a:r>
              <a:rPr sz="1150" b="0" i="0">
                <a:solidFill>
                  <a:srgbClr val="A9A69E"/>
                </a:solidFill>
                <a:latin typeface="Arial"/>
              </a:rPr>
              <a:t>Everything Octopus knows lives in &lt;folder&gt;/.octopus/ - a SQLite DB, plans, exports and a .gitignore of *. Like .git, re-opening the folder brings the whole company back. Nothing is uploaded; Demo Mode needs no keys.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HOW A RUN WORKS</a:t>
            </a:r>
          </a:p>
        </p:txBody>
      </p:sp>
      <p:sp>
        <p:nvSpPr>
          <p:cNvPr id="5" name="TextBox 4"/>
          <p:cNvSpPr txBox="1"/>
          <p:nvPr/>
        </p:nvSpPr>
        <p:spPr>
          <a:xfrm>
            <a:off x="731520" y="868680"/>
            <a:ext cx="10728655" cy="914400"/>
          </a:xfrm>
          <a:prstGeom prst="rect">
            <a:avLst/>
          </a:prstGeom>
          <a:noFill/>
        </p:spPr>
        <p:txBody>
          <a:bodyPr wrap="square" anchor="t" lIns="0" rIns="0" tIns="0" bIns="0">
            <a:spAutoFit/>
          </a:bodyPr>
          <a:lstStyle/>
          <a:p>
            <a:pPr>
              <a:lnSpc>
                <a:spcPct val="105000"/>
              </a:lnSpc>
            </a:pPr>
            <a:r>
              <a:rPr sz="3300" b="1" i="0" spc="-15">
                <a:solidFill>
                  <a:srgbClr val="F5F4EE"/>
                </a:solidFill>
                <a:latin typeface="Arial"/>
              </a:rPr>
              <a:t>Goal in. Software out.</a:t>
            </a:r>
          </a:p>
        </p:txBody>
      </p:sp>
      <p:sp>
        <p:nvSpPr>
          <p:cNvPr id="6" name="Rounded Rectangle 5"/>
          <p:cNvSpPr/>
          <p:nvPr/>
        </p:nvSpPr>
        <p:spPr>
          <a:xfrm>
            <a:off x="731520" y="1581911"/>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04 / 12</a:t>
            </a:r>
          </a:p>
        </p:txBody>
      </p:sp>
      <p:sp>
        <p:nvSpPr>
          <p:cNvPr id="10" name="Rounded Rectangle 9"/>
          <p:cNvSpPr/>
          <p:nvPr/>
        </p:nvSpPr>
        <p:spPr>
          <a:xfrm>
            <a:off x="731520" y="2029967"/>
            <a:ext cx="2002536" cy="1965960"/>
          </a:xfrm>
          <a:prstGeom prst="roundRect">
            <a:avLst>
              <a:gd name="adj" fmla="val 90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a:lstStyle/>
          <a:p>
            <a:pPr algn="ctr"/>
            <a:r>
              <a:rPr sz="1200" b="1" i="0" spc="120">
                <a:solidFill>
                  <a:srgbClr val="D97756"/>
                </a:solidFill>
                <a:latin typeface="Arial"/>
              </a:rPr>
              <a:t>01</a:t>
            </a:r>
          </a:p>
          <a:p>
            <a:pPr>
              <a:spcBef>
                <a:spcPts val="600"/>
              </a:spcBef>
            </a:pPr>
            <a:r>
              <a:rPr sz="1500" b="1" i="0">
                <a:solidFill>
                  <a:srgbClr val="F5F4EE"/>
                </a:solidFill>
                <a:latin typeface="Arial"/>
              </a:rPr>
              <a:t>Goal</a:t>
            </a:r>
          </a:p>
          <a:p>
            <a:pPr>
              <a:lnSpc>
                <a:spcPct val="122000"/>
              </a:lnSpc>
              <a:spcBef>
                <a:spcPts val="500"/>
              </a:spcBef>
            </a:pPr>
            <a:r>
              <a:rPr sz="1050" b="0" i="0">
                <a:solidFill>
                  <a:srgbClr val="A9A69E"/>
                </a:solidFill>
                <a:latin typeface="Arial"/>
              </a:rPr>
              <a:t>Delivered to the entry agent's mailbox</a:t>
            </a:r>
          </a:p>
        </p:txBody>
      </p:sp>
      <p:sp>
        <p:nvSpPr>
          <p:cNvPr id="11" name="Right Arrow 10"/>
          <p:cNvSpPr/>
          <p:nvPr/>
        </p:nvSpPr>
        <p:spPr>
          <a:xfrm>
            <a:off x="2747772" y="2880359"/>
            <a:ext cx="146304" cy="146304"/>
          </a:xfrm>
          <a:prstGeom prst="rightArrow">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07792" y="2029967"/>
            <a:ext cx="2002536" cy="1965960"/>
          </a:xfrm>
          <a:prstGeom prst="roundRect">
            <a:avLst>
              <a:gd name="adj" fmla="val 90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a:lstStyle/>
          <a:p>
            <a:pPr algn="ctr"/>
            <a:r>
              <a:rPr sz="1200" b="1" i="0" spc="120">
                <a:solidFill>
                  <a:srgbClr val="D97756"/>
                </a:solidFill>
                <a:latin typeface="Arial"/>
              </a:rPr>
              <a:t>02</a:t>
            </a:r>
          </a:p>
          <a:p>
            <a:pPr>
              <a:spcBef>
                <a:spcPts val="600"/>
              </a:spcBef>
            </a:pPr>
            <a:r>
              <a:rPr sz="1500" b="1" i="0">
                <a:solidFill>
                  <a:srgbClr val="F5F4EE"/>
                </a:solidFill>
                <a:latin typeface="Arial"/>
              </a:rPr>
              <a:t>Plan &amp; debate</a:t>
            </a:r>
          </a:p>
          <a:p>
            <a:pPr>
              <a:lnSpc>
                <a:spcPct val="122000"/>
              </a:lnSpc>
              <a:spcBef>
                <a:spcPts val="500"/>
              </a:spcBef>
            </a:pPr>
            <a:r>
              <a:rPr sz="1050" b="0" i="0">
                <a:solidFill>
                  <a:srgbClr val="A9A69E"/>
                </a:solidFill>
                <a:latin typeface="Arial"/>
              </a:rPr>
              <a:t>Proposal - objection - explicit consensus</a:t>
            </a:r>
          </a:p>
        </p:txBody>
      </p:sp>
      <p:sp>
        <p:nvSpPr>
          <p:cNvPr id="13" name="Right Arrow 12"/>
          <p:cNvSpPr/>
          <p:nvPr/>
        </p:nvSpPr>
        <p:spPr>
          <a:xfrm>
            <a:off x="4924044" y="2880359"/>
            <a:ext cx="146304" cy="146304"/>
          </a:xfrm>
          <a:prstGeom prst="rightArrow">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84064" y="2029967"/>
            <a:ext cx="2002536" cy="1965960"/>
          </a:xfrm>
          <a:prstGeom prst="roundRect">
            <a:avLst>
              <a:gd name="adj" fmla="val 90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a:lstStyle/>
          <a:p>
            <a:pPr algn="ctr"/>
            <a:r>
              <a:rPr sz="1200" b="1" i="0" spc="120">
                <a:solidFill>
                  <a:srgbClr val="D97756"/>
                </a:solidFill>
                <a:latin typeface="Arial"/>
              </a:rPr>
              <a:t>03</a:t>
            </a:r>
          </a:p>
          <a:p>
            <a:pPr>
              <a:spcBef>
                <a:spcPts val="600"/>
              </a:spcBef>
            </a:pPr>
            <a:r>
              <a:rPr sz="1500" b="1" i="0">
                <a:solidFill>
                  <a:srgbClr val="F5F4EE"/>
                </a:solidFill>
                <a:latin typeface="Arial"/>
              </a:rPr>
              <a:t>Build</a:t>
            </a:r>
          </a:p>
          <a:p>
            <a:pPr>
              <a:lnSpc>
                <a:spcPct val="122000"/>
              </a:lnSpc>
              <a:spcBef>
                <a:spcPts val="500"/>
              </a:spcBef>
            </a:pPr>
            <a:r>
              <a:rPr sz="1050" b="0" i="0">
                <a:solidFill>
                  <a:srgbClr val="A9A69E"/>
                </a:solidFill>
                <a:latin typeface="Arial"/>
              </a:rPr>
              <a:t>write_file / run_code inside the sandbox</a:t>
            </a:r>
          </a:p>
        </p:txBody>
      </p:sp>
      <p:sp>
        <p:nvSpPr>
          <p:cNvPr id="15" name="Right Arrow 14"/>
          <p:cNvSpPr/>
          <p:nvPr/>
        </p:nvSpPr>
        <p:spPr>
          <a:xfrm>
            <a:off x="7100316" y="2880359"/>
            <a:ext cx="146304" cy="146304"/>
          </a:xfrm>
          <a:prstGeom prst="rightArrow">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260336" y="2029967"/>
            <a:ext cx="2002536" cy="1965960"/>
          </a:xfrm>
          <a:prstGeom prst="roundRect">
            <a:avLst>
              <a:gd name="adj" fmla="val 90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a:lstStyle/>
          <a:p>
            <a:pPr algn="ctr"/>
            <a:r>
              <a:rPr sz="1200" b="1" i="0" spc="120">
                <a:solidFill>
                  <a:srgbClr val="D97756"/>
                </a:solidFill>
                <a:latin typeface="Arial"/>
              </a:rPr>
              <a:t>04</a:t>
            </a:r>
          </a:p>
          <a:p>
            <a:pPr>
              <a:spcBef>
                <a:spcPts val="600"/>
              </a:spcBef>
            </a:pPr>
            <a:r>
              <a:rPr sz="1500" b="1" i="0">
                <a:solidFill>
                  <a:srgbClr val="F5F4EE"/>
                </a:solidFill>
                <a:latin typeface="Arial"/>
              </a:rPr>
              <a:t>Review</a:t>
            </a:r>
          </a:p>
          <a:p>
            <a:pPr>
              <a:lnSpc>
                <a:spcPct val="122000"/>
              </a:lnSpc>
              <a:spcBef>
                <a:spcPts val="500"/>
              </a:spcBef>
            </a:pPr>
            <a:r>
              <a:rPr sz="1050" b="0" i="0">
                <a:solidFill>
                  <a:srgbClr val="A9A69E"/>
                </a:solidFill>
                <a:latin typeface="Arial"/>
              </a:rPr>
              <a:t>Verdicts, revisions, QA runs real tests</a:t>
            </a:r>
          </a:p>
        </p:txBody>
      </p:sp>
      <p:sp>
        <p:nvSpPr>
          <p:cNvPr id="17" name="Right Arrow 16"/>
          <p:cNvSpPr/>
          <p:nvPr/>
        </p:nvSpPr>
        <p:spPr>
          <a:xfrm>
            <a:off x="9276588" y="2880359"/>
            <a:ext cx="146304" cy="146304"/>
          </a:xfrm>
          <a:prstGeom prst="rightArrow">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436608" y="2029967"/>
            <a:ext cx="2002536" cy="1965960"/>
          </a:xfrm>
          <a:prstGeom prst="roundRect">
            <a:avLst>
              <a:gd name="adj" fmla="val 90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46304"/>
          <a:lstStyle/>
          <a:p>
            <a:pPr algn="ctr"/>
            <a:r>
              <a:rPr sz="1200" b="1" i="0" spc="120">
                <a:solidFill>
                  <a:srgbClr val="D97756"/>
                </a:solidFill>
                <a:latin typeface="Arial"/>
              </a:rPr>
              <a:t>05</a:t>
            </a:r>
          </a:p>
          <a:p>
            <a:pPr>
              <a:spcBef>
                <a:spcPts val="600"/>
              </a:spcBef>
            </a:pPr>
            <a:r>
              <a:rPr sz="1500" b="1" i="0">
                <a:solidFill>
                  <a:srgbClr val="F5F4EE"/>
                </a:solidFill>
                <a:latin typeface="Arial"/>
              </a:rPr>
              <a:t>Ship</a:t>
            </a:r>
          </a:p>
          <a:p>
            <a:pPr>
              <a:lnSpc>
                <a:spcPct val="122000"/>
              </a:lnSpc>
              <a:spcBef>
                <a:spcPts val="500"/>
              </a:spcBef>
            </a:pPr>
            <a:r>
              <a:rPr sz="1050" b="0" i="0">
                <a:solidFill>
                  <a:srgbClr val="A9A69E"/>
                </a:solidFill>
                <a:latin typeface="Arial"/>
              </a:rPr>
              <a:t>Real files + a run report you can replay</a:t>
            </a:r>
          </a:p>
        </p:txBody>
      </p:sp>
      <p:sp>
        <p:nvSpPr>
          <p:cNvPr id="19" name="TextBox 18"/>
          <p:cNvSpPr txBox="1"/>
          <p:nvPr/>
        </p:nvSpPr>
        <p:spPr>
          <a:xfrm>
            <a:off x="731520" y="4315967"/>
            <a:ext cx="10728655" cy="822960"/>
          </a:xfrm>
          <a:prstGeom prst="rect">
            <a:avLst/>
          </a:prstGeom>
          <a:noFill/>
        </p:spPr>
        <p:txBody>
          <a:bodyPr wrap="square" anchor="t" lIns="0" rIns="0" tIns="0" bIns="0">
            <a:spAutoFit/>
          </a:bodyPr>
          <a:lstStyle/>
          <a:p>
            <a:pPr>
              <a:lnSpc>
                <a:spcPct val="135000"/>
              </a:lnSpc>
            </a:pPr>
            <a:r>
              <a:rPr sz="1300" b="1" i="0">
                <a:solidFill>
                  <a:srgbClr val="F5F4EE"/>
                </a:solidFill>
                <a:latin typeface="Arial"/>
              </a:rPr>
              <a:t>One runtime per run.  </a:t>
            </a:r>
            <a:r>
              <a:rPr sz="1300" b="0" i="0">
                <a:solidFill>
                  <a:srgbClr val="A9A69E"/>
                </a:solidFill>
                <a:latin typeface="Arial"/>
              </a:rPr>
              <a:t>Agents reply with a validated JSON action schema; the server only delivers messages along channels it knows about, every action passes the permission gate, and every event is persisted with a sequence number so the whole run can be replayed frame by frame.</a:t>
            </a:r>
          </a:p>
        </p:txBody>
      </p:sp>
      <p:sp>
        <p:nvSpPr>
          <p:cNvPr id="20" name="Rounded Rectangle 19"/>
          <p:cNvSpPr/>
          <p:nvPr/>
        </p:nvSpPr>
        <p:spPr>
          <a:xfrm>
            <a:off x="731520" y="5138927"/>
            <a:ext cx="1991288"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Explicit consensus</a:t>
            </a:r>
          </a:p>
        </p:txBody>
      </p:sp>
      <p:sp>
        <p:nvSpPr>
          <p:cNvPr id="21" name="Rounded Rectangle 20"/>
          <p:cNvSpPr/>
          <p:nvPr/>
        </p:nvSpPr>
        <p:spPr>
          <a:xfrm>
            <a:off x="2850824" y="5138927"/>
            <a:ext cx="1723415"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Review verdicts</a:t>
            </a:r>
          </a:p>
        </p:txBody>
      </p:sp>
      <p:sp>
        <p:nvSpPr>
          <p:cNvPr id="22" name="Rounded Rectangle 21"/>
          <p:cNvSpPr/>
          <p:nvPr/>
        </p:nvSpPr>
        <p:spPr>
          <a:xfrm>
            <a:off x="4702255" y="5138927"/>
            <a:ext cx="1276959"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Task board</a:t>
            </a:r>
          </a:p>
        </p:txBody>
      </p:sp>
      <p:sp>
        <p:nvSpPr>
          <p:cNvPr id="23" name="Rounded Rectangle 22"/>
          <p:cNvSpPr/>
          <p:nvPr/>
        </p:nvSpPr>
        <p:spPr>
          <a:xfrm>
            <a:off x="6107230" y="5138927"/>
            <a:ext cx="1544833" cy="329184"/>
          </a:xfrm>
          <a:prstGeom prst="roundRect">
            <a:avLst>
              <a:gd name="adj" fmla="val 50000"/>
            </a:avLst>
          </a:prstGeom>
          <a:solidFill>
            <a:srgbClr val="2C2A28"/>
          </a:solidFill>
          <a:ln w="9525">
            <a:solidFill>
              <a:srgbClr val="47443F"/>
            </a:solidFill>
          </a:ln>
          <a:effectLst/>
        </p:spPr>
        <p:style>
          <a:lnRef idx="1">
            <a:schemeClr val="accent1"/>
          </a:lnRef>
          <a:fillRef idx="3">
            <a:schemeClr val="accent1"/>
          </a:fillRef>
          <a:effectRef idx="2">
            <a:schemeClr val="accent1"/>
          </a:effectRef>
          <a:fontRef idx="minor">
            <a:schemeClr val="lt1"/>
          </a:fontRef>
        </p:style>
        <p:txBody>
          <a:bodyPr rtlCol="0" anchor="ctr" wrap="none" lIns="146304" rIns="146304" tIns="0" bIns="0"/>
          <a:lstStyle/>
          <a:p>
            <a:pPr algn="ctr"/>
            <a:r>
              <a:rPr sz="1050" b="1" i="0">
                <a:solidFill>
                  <a:srgbClr val="E9E8E5"/>
                </a:solidFill>
                <a:latin typeface="Arial"/>
              </a:rPr>
              <a:t>Loop detector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PRODUCT</a:t>
            </a:r>
          </a:p>
        </p:txBody>
      </p:sp>
      <p:sp>
        <p:nvSpPr>
          <p:cNvPr id="5" name="TextBox 4"/>
          <p:cNvSpPr txBox="1"/>
          <p:nvPr/>
        </p:nvSpPr>
        <p:spPr>
          <a:xfrm>
            <a:off x="731520" y="868680"/>
            <a:ext cx="10728655" cy="914400"/>
          </a:xfrm>
          <a:prstGeom prst="rect">
            <a:avLst/>
          </a:prstGeom>
          <a:noFill/>
        </p:spPr>
        <p:txBody>
          <a:bodyPr wrap="square" anchor="t" lIns="0" rIns="0" tIns="0" bIns="0">
            <a:spAutoFit/>
          </a:bodyPr>
          <a:lstStyle/>
          <a:p>
            <a:pPr>
              <a:lnSpc>
                <a:spcPct val="105000"/>
              </a:lnSpc>
            </a:pPr>
            <a:r>
              <a:rPr sz="3300" b="1" i="0" spc="-15">
                <a:solidFill>
                  <a:srgbClr val="F5F4EE"/>
                </a:solidFill>
                <a:latin typeface="Arial"/>
              </a:rPr>
              <a:t>A whole product, not a demo.</a:t>
            </a:r>
          </a:p>
        </p:txBody>
      </p:sp>
      <p:sp>
        <p:nvSpPr>
          <p:cNvPr id="6" name="Rounded Rectangle 5"/>
          <p:cNvSpPr/>
          <p:nvPr/>
        </p:nvSpPr>
        <p:spPr>
          <a:xfrm>
            <a:off x="731520" y="1581911"/>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05 / 12</a:t>
            </a:r>
          </a:p>
        </p:txBody>
      </p:sp>
      <p:sp>
        <p:nvSpPr>
          <p:cNvPr id="10" name="Rounded Rectangle 9"/>
          <p:cNvSpPr/>
          <p:nvPr/>
        </p:nvSpPr>
        <p:spPr>
          <a:xfrm>
            <a:off x="731520" y="1892807"/>
            <a:ext cx="5276088" cy="1755648"/>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Org canvas</a:t>
            </a:r>
          </a:p>
          <a:p>
            <a:pPr>
              <a:lnSpc>
                <a:spcPct val="122000"/>
              </a:lnSpc>
              <a:spcBef>
                <a:spcPts val="600"/>
              </a:spcBef>
            </a:pPr>
            <a:r>
              <a:rPr sz="1150" b="0" i="0">
                <a:solidFill>
                  <a:srgbClr val="A9A69E"/>
                </a:solidFill>
                <a:latin typeface="Arial"/>
              </a:rPr>
              <a:t>Departments, managers and typed channels - delegate, report, review, debate, consult. Undo/redo, auto-layout, JSON import/export, autosave.</a:t>
            </a:r>
          </a:p>
        </p:txBody>
      </p:sp>
      <p:sp>
        <p:nvSpPr>
          <p:cNvPr id="11" name="Rounded Rectangle 10"/>
          <p:cNvSpPr/>
          <p:nvPr/>
        </p:nvSpPr>
        <p:spPr>
          <a:xfrm>
            <a:off x="6327648" y="1892807"/>
            <a:ext cx="5276088" cy="1755648"/>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Live run</a:t>
            </a:r>
          </a:p>
          <a:p>
            <a:pPr>
              <a:lnSpc>
                <a:spcPct val="122000"/>
              </a:lnSpc>
              <a:spcBef>
                <a:spcPts val="600"/>
              </a:spcBef>
            </a:pPr>
            <a:r>
              <a:rPr sz="1150" b="0" i="0">
                <a:solidFill>
                  <a:srgbClr val="A9A69E"/>
                </a:solidFill>
                <a:latin typeface="Arial"/>
              </a:rPr>
              <a:t>Animated graph of who's thinking, messages moving along edges, message feed, task board, tool log, approvals, pause / step / interject, replay timeline.</a:t>
            </a:r>
          </a:p>
        </p:txBody>
      </p:sp>
      <p:sp>
        <p:nvSpPr>
          <p:cNvPr id="12" name="Rounded Rectangle 11"/>
          <p:cNvSpPr/>
          <p:nvPr/>
        </p:nvSpPr>
        <p:spPr>
          <a:xfrm>
            <a:off x="731520" y="3922775"/>
            <a:ext cx="5276088" cy="1755648"/>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Runs are chats</a:t>
            </a:r>
          </a:p>
          <a:p>
            <a:pPr>
              <a:lnSpc>
                <a:spcPct val="122000"/>
              </a:lnSpc>
              <a:spcBef>
                <a:spcPts val="600"/>
              </a:spcBef>
            </a:pPr>
            <a:r>
              <a:rPr sz="1150" b="0" i="0">
                <a:solidFill>
                  <a:srgbClr val="A9A69E"/>
                </a:solidFill>
                <a:latin typeface="Arial"/>
              </a:rPr>
              <a:t>When a run finishes, type 'add a dark mode toggle' in the same box - the same run re-opens with its history, task board and files.</a:t>
            </a:r>
          </a:p>
        </p:txBody>
      </p:sp>
      <p:sp>
        <p:nvSpPr>
          <p:cNvPr id="13" name="Rounded Rectangle 12"/>
          <p:cNvSpPr/>
          <p:nvPr/>
        </p:nvSpPr>
        <p:spPr>
          <a:xfrm>
            <a:off x="6327648" y="3922775"/>
            <a:ext cx="5276088" cy="1755648"/>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Artifacts &amp; preview</a:t>
            </a:r>
          </a:p>
          <a:p>
            <a:pPr>
              <a:lnSpc>
                <a:spcPct val="122000"/>
              </a:lnSpc>
              <a:spcBef>
                <a:spcPts val="600"/>
              </a:spcBef>
            </a:pPr>
            <a:r>
              <a:rPr sz="1150" b="0" i="0">
                <a:solidFill>
                  <a:srgbClr val="A9A69E"/>
                </a:solidFill>
                <a:latin typeface="Arial"/>
              </a:rPr>
              <a:t>Every file version with a diff, author and reason, plus revert and ZIP. Live preview of HTML, Markdown, images and PDFs.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CONTROL &amp; SAFETY</a:t>
            </a:r>
          </a:p>
        </p:txBody>
      </p:sp>
      <p:sp>
        <p:nvSpPr>
          <p:cNvPr id="5" name="TextBox 4"/>
          <p:cNvSpPr txBox="1"/>
          <p:nvPr/>
        </p:nvSpPr>
        <p:spPr>
          <a:xfrm>
            <a:off x="731520" y="868680"/>
            <a:ext cx="10728655" cy="914400"/>
          </a:xfrm>
          <a:prstGeom prst="rect">
            <a:avLst/>
          </a:prstGeom>
          <a:noFill/>
        </p:spPr>
        <p:txBody>
          <a:bodyPr wrap="square" anchor="t" lIns="0" rIns="0" tIns="0" bIns="0">
            <a:spAutoFit/>
          </a:bodyPr>
          <a:lstStyle/>
          <a:p>
            <a:pPr>
              <a:lnSpc>
                <a:spcPct val="105000"/>
              </a:lnSpc>
            </a:pPr>
            <a:r>
              <a:rPr sz="3300" b="1" i="0" spc="-15">
                <a:solidFill>
                  <a:srgbClr val="F5F4EE"/>
                </a:solidFill>
                <a:latin typeface="Arial"/>
              </a:rPr>
              <a:t>Autonomy with a leash.</a:t>
            </a:r>
          </a:p>
        </p:txBody>
      </p:sp>
      <p:sp>
        <p:nvSpPr>
          <p:cNvPr id="6" name="Rounded Rectangle 5"/>
          <p:cNvSpPr/>
          <p:nvPr/>
        </p:nvSpPr>
        <p:spPr>
          <a:xfrm>
            <a:off x="731520" y="1581911"/>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06 / 12</a:t>
            </a:r>
          </a:p>
        </p:txBody>
      </p:sp>
      <p:graphicFrame>
        <p:nvGraphicFramePr>
          <p:cNvPr id="10" name="Table 9"/>
          <p:cNvGraphicFramePr>
            <a:graphicFrameLocks noGrp="1"/>
          </p:cNvGraphicFramePr>
          <p:nvPr/>
        </p:nvGraphicFramePr>
        <p:xfrm>
          <a:off x="731520" y="1892807"/>
          <a:ext cx="6858000" cy="2322576"/>
        </p:xfrm>
        <a:graphic>
          <a:graphicData uri="http://schemas.openxmlformats.org/drawingml/2006/table">
            <a:tbl>
              <a:tblPr>
                <a:tableStyleId>{5C22544A-7EE6-4342-B048-85BDC9FD1C3A}</a:tableStyleId>
              </a:tblPr>
              <a:tblGrid>
                <a:gridCol w="2468880"/>
                <a:gridCol w="1097280"/>
                <a:gridCol w="1097280"/>
                <a:gridCol w="1097280"/>
                <a:gridCol w="1097280"/>
              </a:tblGrid>
              <a:tr h="457200">
                <a:tc>
                  <a:txBody>
                    <a:bodyPr wrap="square"/>
                    <a:lstStyle/>
                    <a:p>
                      <a:pPr algn="l"/>
                      <a:r>
                        <a:rPr sz="1200" b="1" i="0">
                          <a:solidFill>
                            <a:srgbClr val="F5F4EE"/>
                          </a:solidFill>
                          <a:latin typeface="Arial"/>
                        </a:rPr>
                        <a:t>Action</a:t>
                      </a:r>
                    </a:p>
                  </a:txBody>
                  <a:tcPr marL="91440" marR="73152" marT="45720" marB="45720">
                    <a:solidFill>
                      <a:srgbClr val="33302D"/>
                    </a:solidFill>
                  </a:tcPr>
                </a:tc>
                <a:tc>
                  <a:txBody>
                    <a:bodyPr wrap="square"/>
                    <a:lstStyle/>
                    <a:p>
                      <a:pPr algn="ctr"/>
                      <a:r>
                        <a:rPr sz="1200" b="1" i="0">
                          <a:solidFill>
                            <a:srgbClr val="F5F4EE"/>
                          </a:solidFill>
                          <a:latin typeface="Arial"/>
                        </a:rPr>
                        <a:t>read_only</a:t>
                      </a:r>
                    </a:p>
                  </a:txBody>
                  <a:tcPr marL="91440" marR="73152" marT="45720" marB="45720">
                    <a:solidFill>
                      <a:srgbClr val="33302D"/>
                    </a:solidFill>
                  </a:tcPr>
                </a:tc>
                <a:tc>
                  <a:txBody>
                    <a:bodyPr wrap="square"/>
                    <a:lstStyle/>
                    <a:p>
                      <a:pPr algn="ctr"/>
                      <a:r>
                        <a:rPr sz="1200" b="1" i="0">
                          <a:solidFill>
                            <a:srgbClr val="F5F4EE"/>
                          </a:solidFill>
                          <a:latin typeface="Arial"/>
                        </a:rPr>
                        <a:t>plan</a:t>
                      </a:r>
                    </a:p>
                  </a:txBody>
                  <a:tcPr marL="91440" marR="73152" marT="45720" marB="45720">
                    <a:solidFill>
                      <a:srgbClr val="33302D"/>
                    </a:solidFill>
                  </a:tcPr>
                </a:tc>
                <a:tc>
                  <a:txBody>
                    <a:bodyPr wrap="square"/>
                    <a:lstStyle/>
                    <a:p>
                      <a:pPr algn="ctr"/>
                      <a:r>
                        <a:rPr sz="1200" b="1" i="0">
                          <a:solidFill>
                            <a:srgbClr val="F5F4EE"/>
                          </a:solidFill>
                          <a:latin typeface="Arial"/>
                        </a:rPr>
                        <a:t>ask</a:t>
                      </a:r>
                    </a:p>
                  </a:txBody>
                  <a:tcPr marL="91440" marR="73152" marT="45720" marB="45720">
                    <a:solidFill>
                      <a:srgbClr val="33302D"/>
                    </a:solidFill>
                  </a:tcPr>
                </a:tc>
                <a:tc>
                  <a:txBody>
                    <a:bodyPr wrap="square"/>
                    <a:lstStyle/>
                    <a:p>
                      <a:pPr algn="ctr"/>
                      <a:r>
                        <a:rPr sz="1200" b="1" i="0">
                          <a:solidFill>
                            <a:srgbClr val="F5F4EE"/>
                          </a:solidFill>
                          <a:latin typeface="Arial"/>
                        </a:rPr>
                        <a:t>danger</a:t>
                      </a:r>
                    </a:p>
                  </a:txBody>
                  <a:tcPr marL="91440" marR="73152" marT="45720" marB="45720">
                    <a:solidFill>
                      <a:srgbClr val="33302D"/>
                    </a:solidFill>
                  </a:tcPr>
                </a:tc>
              </a:tr>
              <a:tr h="466344">
                <a:tc>
                  <a:txBody>
                    <a:bodyPr wrap="square"/>
                    <a:lstStyle/>
                    <a:p>
                      <a:pPr algn="l"/>
                      <a:r>
                        <a:rPr sz="1150" b="1" i="0">
                          <a:solidFill>
                            <a:srgbClr val="E9E8E5"/>
                          </a:solidFill>
                          <a:latin typeface="Arial"/>
                        </a:rPr>
                        <a:t>read / list files</a:t>
                      </a:r>
                    </a:p>
                  </a:txBody>
                  <a:tcPr marL="91440" marR="73152" marT="45720" marB="45720">
                    <a:solidFill>
                      <a:srgbClr val="2C2A28"/>
                    </a:solidFill>
                  </a:tcPr>
                </a:tc>
                <a:tc>
                  <a:txBody>
                    <a:bodyPr wrap="square"/>
                    <a:lstStyle/>
                    <a:p>
                      <a:pPr algn="ctr"/>
                      <a:r>
                        <a:rPr sz="1050" b="1" i="0">
                          <a:solidFill>
                            <a:srgbClr val="6B8440"/>
                          </a:solidFill>
                          <a:latin typeface="Arial"/>
                        </a:rPr>
                        <a:t>yes</a:t>
                      </a:r>
                    </a:p>
                  </a:txBody>
                  <a:tcPr marL="91440" marR="73152" marT="45720" marB="45720">
                    <a:solidFill>
                      <a:srgbClr val="262421"/>
                    </a:solidFill>
                  </a:tcPr>
                </a:tc>
                <a:tc>
                  <a:txBody>
                    <a:bodyPr wrap="square"/>
                    <a:lstStyle/>
                    <a:p>
                      <a:pPr algn="ctr"/>
                      <a:r>
                        <a:rPr sz="1050" b="0" i="0">
                          <a:solidFill>
                            <a:srgbClr val="66839A"/>
                          </a:solidFill>
                          <a:latin typeface="Arial"/>
                        </a:rPr>
                        <a:t>shadow first</a:t>
                      </a:r>
                    </a:p>
                  </a:txBody>
                  <a:tcPr marL="91440" marR="73152" marT="45720" marB="45720">
                    <a:solidFill>
                      <a:srgbClr val="262421"/>
                    </a:solidFill>
                  </a:tcPr>
                </a:tc>
                <a:tc>
                  <a:txBody>
                    <a:bodyPr wrap="square"/>
                    <a:lstStyle/>
                    <a:p>
                      <a:pPr algn="ctr"/>
                      <a:r>
                        <a:rPr sz="1050" b="1" i="0">
                          <a:solidFill>
                            <a:srgbClr val="6B8440"/>
                          </a:solidFill>
                          <a:latin typeface="Arial"/>
                        </a:rPr>
                        <a:t>yes</a:t>
                      </a:r>
                    </a:p>
                  </a:txBody>
                  <a:tcPr marL="91440" marR="73152" marT="45720" marB="45720">
                    <a:solidFill>
                      <a:srgbClr val="262421"/>
                    </a:solidFill>
                  </a:tcPr>
                </a:tc>
                <a:tc>
                  <a:txBody>
                    <a:bodyPr wrap="square"/>
                    <a:lstStyle/>
                    <a:p>
                      <a:pPr algn="ctr"/>
                      <a:r>
                        <a:rPr sz="1050" b="0" i="0">
                          <a:solidFill>
                            <a:srgbClr val="6B8440"/>
                          </a:solidFill>
                          <a:latin typeface="Arial"/>
                        </a:rPr>
                        <a:t>yes + secrets</a:t>
                      </a:r>
                    </a:p>
                  </a:txBody>
                  <a:tcPr marL="91440" marR="73152" marT="45720" marB="45720">
                    <a:solidFill>
                      <a:srgbClr val="262421"/>
                    </a:solidFill>
                  </a:tcPr>
                </a:tc>
              </a:tr>
              <a:tr h="466344">
                <a:tc>
                  <a:txBody>
                    <a:bodyPr wrap="square"/>
                    <a:lstStyle/>
                    <a:p>
                      <a:pPr algn="l"/>
                      <a:r>
                        <a:rPr sz="1150" b="1" i="0">
                          <a:solidFill>
                            <a:srgbClr val="E9E8E5"/>
                          </a:solidFill>
                          <a:latin typeface="Arial"/>
                        </a:rPr>
                        <a:t>write_file</a:t>
                      </a:r>
                    </a:p>
                  </a:txBody>
                  <a:tcPr marL="91440" marR="73152" marT="45720" marB="45720">
                    <a:solidFill>
                      <a:srgbClr val="2C2A28"/>
                    </a:solidFill>
                  </a:tcPr>
                </a:tc>
                <a:tc>
                  <a:txBody>
                    <a:bodyPr wrap="square"/>
                    <a:lstStyle/>
                    <a:p>
                      <a:pPr algn="ctr"/>
                      <a:r>
                        <a:rPr sz="1050" b="0" i="0">
                          <a:solidFill>
                            <a:srgbClr val="7A766F"/>
                          </a:solidFill>
                          <a:latin typeface="Arial"/>
                        </a:rPr>
                        <a:t>no</a:t>
                      </a:r>
                    </a:p>
                  </a:txBody>
                  <a:tcPr marL="91440" marR="73152" marT="45720" marB="45720">
                    <a:solidFill>
                      <a:srgbClr val="262421"/>
                    </a:solidFill>
                  </a:tcPr>
                </a:tc>
                <a:tc>
                  <a:txBody>
                    <a:bodyPr wrap="square"/>
                    <a:lstStyle/>
                    <a:p>
                      <a:pPr algn="ctr"/>
                      <a:r>
                        <a:rPr sz="1050" b="0" i="0">
                          <a:solidFill>
                            <a:srgbClr val="66839A"/>
                          </a:solidFill>
                          <a:latin typeface="Arial"/>
                        </a:rPr>
                        <a:t>shadow</a:t>
                      </a:r>
                    </a:p>
                  </a:txBody>
                  <a:tcPr marL="91440" marR="73152" marT="45720" marB="45720">
                    <a:solidFill>
                      <a:srgbClr val="262421"/>
                    </a:solidFill>
                  </a:tcPr>
                </a:tc>
                <a:tc>
                  <a:txBody>
                    <a:bodyPr wrap="square"/>
                    <a:lstStyle/>
                    <a:p>
                      <a:pPr algn="ctr"/>
                      <a:r>
                        <a:rPr sz="1050" b="1" i="0">
                          <a:solidFill>
                            <a:srgbClr val="D97756"/>
                          </a:solidFill>
                          <a:latin typeface="Arial"/>
                        </a:rPr>
                        <a:t>approve</a:t>
                      </a:r>
                    </a:p>
                  </a:txBody>
                  <a:tcPr marL="91440" marR="73152" marT="45720" marB="45720">
                    <a:solidFill>
                      <a:srgbClr val="262421"/>
                    </a:solidFill>
                  </a:tcPr>
                </a:tc>
                <a:tc>
                  <a:txBody>
                    <a:bodyPr wrap="square"/>
                    <a:lstStyle/>
                    <a:p>
                      <a:pPr algn="ctr"/>
                      <a:r>
                        <a:rPr sz="1050" b="1" i="0">
                          <a:solidFill>
                            <a:srgbClr val="6B8440"/>
                          </a:solidFill>
                          <a:latin typeface="Arial"/>
                        </a:rPr>
                        <a:t>yes</a:t>
                      </a:r>
                    </a:p>
                  </a:txBody>
                  <a:tcPr marL="91440" marR="73152" marT="45720" marB="45720">
                    <a:solidFill>
                      <a:srgbClr val="262421"/>
                    </a:solidFill>
                  </a:tcPr>
                </a:tc>
              </a:tr>
              <a:tr h="466344">
                <a:tc>
                  <a:txBody>
                    <a:bodyPr wrap="square"/>
                    <a:lstStyle/>
                    <a:p>
                      <a:pPr algn="l"/>
                      <a:r>
                        <a:rPr sz="1150" b="1" i="0">
                          <a:solidFill>
                            <a:srgbClr val="E9E8E5"/>
                          </a:solidFill>
                          <a:latin typeface="Arial"/>
                        </a:rPr>
                        <a:t>run_code</a:t>
                      </a:r>
                    </a:p>
                  </a:txBody>
                  <a:tcPr marL="91440" marR="73152" marT="45720" marB="45720">
                    <a:solidFill>
                      <a:srgbClr val="2C2A28"/>
                    </a:solidFill>
                  </a:tcPr>
                </a:tc>
                <a:tc>
                  <a:txBody>
                    <a:bodyPr wrap="square"/>
                    <a:lstStyle/>
                    <a:p>
                      <a:pPr algn="ctr"/>
                      <a:r>
                        <a:rPr sz="1050" b="0" i="0">
                          <a:solidFill>
                            <a:srgbClr val="7A766F"/>
                          </a:solidFill>
                          <a:latin typeface="Arial"/>
                        </a:rPr>
                        <a:t>no</a:t>
                      </a:r>
                    </a:p>
                  </a:txBody>
                  <a:tcPr marL="91440" marR="73152" marT="45720" marB="45720">
                    <a:solidFill>
                      <a:srgbClr val="262421"/>
                    </a:solidFill>
                  </a:tcPr>
                </a:tc>
                <a:tc>
                  <a:txBody>
                    <a:bodyPr wrap="square"/>
                    <a:lstStyle/>
                    <a:p>
                      <a:pPr algn="ctr"/>
                      <a:r>
                        <a:rPr sz="1050" b="0" i="0">
                          <a:solidFill>
                            <a:srgbClr val="7A766F"/>
                          </a:solidFill>
                          <a:latin typeface="Arial"/>
                        </a:rPr>
                        <a:t>no</a:t>
                      </a:r>
                    </a:p>
                  </a:txBody>
                  <a:tcPr marL="91440" marR="73152" marT="45720" marB="45720">
                    <a:solidFill>
                      <a:srgbClr val="262421"/>
                    </a:solidFill>
                  </a:tcPr>
                </a:tc>
                <a:tc>
                  <a:txBody>
                    <a:bodyPr wrap="square"/>
                    <a:lstStyle/>
                    <a:p>
                      <a:pPr algn="ctr"/>
                      <a:r>
                        <a:rPr sz="1050" b="1" i="0">
                          <a:solidFill>
                            <a:srgbClr val="D97756"/>
                          </a:solidFill>
                          <a:latin typeface="Arial"/>
                        </a:rPr>
                        <a:t>approve</a:t>
                      </a:r>
                    </a:p>
                  </a:txBody>
                  <a:tcPr marL="91440" marR="73152" marT="45720" marB="45720">
                    <a:solidFill>
                      <a:srgbClr val="262421"/>
                    </a:solidFill>
                  </a:tcPr>
                </a:tc>
                <a:tc>
                  <a:txBody>
                    <a:bodyPr wrap="square"/>
                    <a:lstStyle/>
                    <a:p>
                      <a:pPr algn="ctr"/>
                      <a:r>
                        <a:rPr sz="1050" b="0" i="0">
                          <a:solidFill>
                            <a:srgbClr val="6B8440"/>
                          </a:solidFill>
                          <a:latin typeface="Arial"/>
                        </a:rPr>
                        <a:t>any command</a:t>
                      </a:r>
                    </a:p>
                  </a:txBody>
                  <a:tcPr marL="91440" marR="73152" marT="45720" marB="45720">
                    <a:solidFill>
                      <a:srgbClr val="262421"/>
                    </a:solidFill>
                  </a:tcPr>
                </a:tc>
              </a:tr>
              <a:tr h="466344">
                <a:tc>
                  <a:txBody>
                    <a:bodyPr wrap="square"/>
                    <a:lstStyle/>
                    <a:p>
                      <a:pPr algn="l"/>
                      <a:r>
                        <a:rPr sz="1150" b="1" i="0">
                          <a:solidFill>
                            <a:srgbClr val="E9E8E5"/>
                          </a:solidFill>
                          <a:latin typeface="Arial"/>
                        </a:rPr>
                        <a:t>mcp_call</a:t>
                      </a:r>
                    </a:p>
                  </a:txBody>
                  <a:tcPr marL="91440" marR="73152" marT="45720" marB="45720">
                    <a:solidFill>
                      <a:srgbClr val="2C2A28"/>
                    </a:solidFill>
                  </a:tcPr>
                </a:tc>
                <a:tc>
                  <a:txBody>
                    <a:bodyPr wrap="square"/>
                    <a:lstStyle/>
                    <a:p>
                      <a:pPr algn="ctr"/>
                      <a:r>
                        <a:rPr sz="1050" b="0" i="0">
                          <a:solidFill>
                            <a:srgbClr val="7A766F"/>
                          </a:solidFill>
                          <a:latin typeface="Arial"/>
                        </a:rPr>
                        <a:t>no</a:t>
                      </a:r>
                    </a:p>
                  </a:txBody>
                  <a:tcPr marL="91440" marR="73152" marT="45720" marB="45720">
                    <a:solidFill>
                      <a:srgbClr val="262421"/>
                    </a:solidFill>
                  </a:tcPr>
                </a:tc>
                <a:tc>
                  <a:txBody>
                    <a:bodyPr wrap="square"/>
                    <a:lstStyle/>
                    <a:p>
                      <a:pPr algn="ctr"/>
                      <a:r>
                        <a:rPr sz="1050" b="0" i="0">
                          <a:solidFill>
                            <a:srgbClr val="7A766F"/>
                          </a:solidFill>
                          <a:latin typeface="Arial"/>
                        </a:rPr>
                        <a:t>no</a:t>
                      </a:r>
                    </a:p>
                  </a:txBody>
                  <a:tcPr marL="91440" marR="73152" marT="45720" marB="45720">
                    <a:solidFill>
                      <a:srgbClr val="262421"/>
                    </a:solidFill>
                  </a:tcPr>
                </a:tc>
                <a:tc>
                  <a:txBody>
                    <a:bodyPr wrap="square"/>
                    <a:lstStyle/>
                    <a:p>
                      <a:pPr algn="ctr"/>
                      <a:r>
                        <a:rPr sz="1050" b="1" i="0">
                          <a:solidFill>
                            <a:srgbClr val="D97756"/>
                          </a:solidFill>
                          <a:latin typeface="Arial"/>
                        </a:rPr>
                        <a:t>approve</a:t>
                      </a:r>
                    </a:p>
                  </a:txBody>
                  <a:tcPr marL="91440" marR="73152" marT="45720" marB="45720">
                    <a:solidFill>
                      <a:srgbClr val="262421"/>
                    </a:solidFill>
                  </a:tcPr>
                </a:tc>
                <a:tc>
                  <a:txBody>
                    <a:bodyPr wrap="square"/>
                    <a:lstStyle/>
                    <a:p>
                      <a:pPr algn="ctr"/>
                      <a:r>
                        <a:rPr sz="1050" b="1" i="0">
                          <a:solidFill>
                            <a:srgbClr val="6B8440"/>
                          </a:solidFill>
                          <a:latin typeface="Arial"/>
                        </a:rPr>
                        <a:t>yes</a:t>
                      </a:r>
                    </a:p>
                  </a:txBody>
                  <a:tcPr marL="91440" marR="73152" marT="45720" marB="45720">
                    <a:solidFill>
                      <a:srgbClr val="262421"/>
                    </a:solidFill>
                  </a:tcPr>
                </a:tc>
              </a:tr>
            </a:tbl>
          </a:graphicData>
        </a:graphic>
      </p:graphicFrame>
      <p:sp>
        <p:nvSpPr>
          <p:cNvPr id="11" name="TextBox 10"/>
          <p:cNvSpPr txBox="1"/>
          <p:nvPr/>
        </p:nvSpPr>
        <p:spPr>
          <a:xfrm>
            <a:off x="731520" y="4334255"/>
            <a:ext cx="6858000" cy="274320"/>
          </a:xfrm>
          <a:prstGeom prst="rect">
            <a:avLst/>
          </a:prstGeom>
          <a:noFill/>
        </p:spPr>
        <p:txBody>
          <a:bodyPr wrap="square" anchor="t" lIns="0" rIns="0" tIns="0" bIns="0">
            <a:spAutoFit/>
          </a:bodyPr>
          <a:lstStyle/>
          <a:p>
            <a:pPr algn="l">
              <a:lnSpc>
                <a:spcPct val="110000"/>
              </a:lnSpc>
            </a:pPr>
            <a:r>
              <a:rPr sz="1050" b="0" i="1">
                <a:solidFill>
                  <a:srgbClr val="8A8780"/>
                </a:solidFill>
                <a:latin typeface="Arial"/>
              </a:rPr>
              <a:t>Effective level = min(run level, agent override).</a:t>
            </a:r>
          </a:p>
        </p:txBody>
      </p:sp>
      <p:sp>
        <p:nvSpPr>
          <p:cNvPr id="12" name="TextBox 11"/>
          <p:cNvSpPr txBox="1"/>
          <p:nvPr/>
        </p:nvSpPr>
        <p:spPr>
          <a:xfrm>
            <a:off x="7818120" y="1892807"/>
            <a:ext cx="3639312" cy="3840480"/>
          </a:xfrm>
          <a:prstGeom prst="rect">
            <a:avLst/>
          </a:prstGeom>
          <a:noFill/>
        </p:spPr>
        <p:txBody>
          <a:bodyPr wrap="square" anchor="t" lIns="0" rIns="0" tIns="0" bIns="0">
            <a:spAutoFit/>
          </a:bodyPr>
          <a:lstStyle/>
          <a:p>
            <a:pPr marL="219456" indent="-219456">
              <a:lnSpc>
                <a:spcPct val="124000"/>
              </a:lnSpc>
              <a:spcAft>
                <a:spcPts val="1000"/>
              </a:spcAft>
              <a:buClr>
                <a:srgbClr val="D97756"/>
              </a:buClr>
              <a:buFont typeface="Arial"/>
              <a:buChar char="•"/>
            </a:pPr>
            <a:r>
              <a:rPr sz="1200" b="1" i="0">
                <a:solidFill>
                  <a:srgbClr val="F5F4EE"/>
                </a:solidFill>
                <a:latin typeface="Arial"/>
              </a:rPr>
              <a:t>Approvals with a diff.</a:t>
            </a:r>
            <a:r>
              <a:rPr sz="1200" b="0" i="0">
                <a:solidFill>
                  <a:srgbClr val="A9A69E"/>
                </a:solidFill>
                <a:latin typeface="Arial"/>
              </a:rPr>
              <a:t>  Writes, commands and MCP calls block for sign-off; 'Always allow' scopes to that agent and action.</a:t>
            </a:r>
          </a:p>
          <a:p>
            <a:pPr marL="219456" indent="-219456">
              <a:lnSpc>
                <a:spcPct val="124000"/>
              </a:lnSpc>
              <a:spcAft>
                <a:spcPts val="1000"/>
              </a:spcAft>
              <a:buClr>
                <a:srgbClr val="D97756"/>
              </a:buClr>
              <a:buFont typeface="Arial"/>
              <a:buChar char="•"/>
            </a:pPr>
            <a:r>
              <a:rPr sz="1200" b="1" i="0">
                <a:solidFill>
                  <a:srgbClr val="F5F4EE"/>
                </a:solidFill>
                <a:latin typeface="Arial"/>
              </a:rPr>
              <a:t>Budgets everywhere.</a:t>
            </a:r>
            <a:r>
              <a:rPr sz="1200" b="0" i="0">
                <a:solidFill>
                  <a:srgbClr val="A9A69E"/>
                </a:solidFill>
                <a:latin typeface="Arial"/>
              </a:rPr>
              <a:t>  Turns, tokens, cost and wall-clock - plus a loop detector that auto-pauses runaway runs.</a:t>
            </a:r>
          </a:p>
          <a:p>
            <a:pPr marL="219456" indent="-219456">
              <a:lnSpc>
                <a:spcPct val="124000"/>
              </a:lnSpc>
              <a:spcAft>
                <a:spcPts val="1000"/>
              </a:spcAft>
              <a:buClr>
                <a:srgbClr val="D97756"/>
              </a:buClr>
              <a:buFont typeface="Arial"/>
              <a:buChar char="•"/>
            </a:pPr>
            <a:r>
              <a:rPr sz="1200" b="1" i="0">
                <a:solidFill>
                  <a:srgbClr val="F5F4EE"/>
                </a:solidFill>
                <a:latin typeface="Arial"/>
              </a:rPr>
              <a:t>Sandboxed execution.</a:t>
            </a:r>
            <a:r>
              <a:rPr sz="1200" b="0" i="0">
                <a:solidFill>
                  <a:srgbClr val="A9A69E"/>
                </a:solidFill>
                <a:latin typeface="Arial"/>
              </a:rPr>
              <a:t>  No shell, scrubbed environment, rlimits, no network, allowlist - or Docker isolation.</a:t>
            </a:r>
          </a:p>
          <a:p>
            <a:pPr marL="219456" indent="-219456">
              <a:lnSpc>
                <a:spcPct val="124000"/>
              </a:lnSpc>
              <a:spcAft>
                <a:spcPts val="1000"/>
              </a:spcAft>
              <a:buClr>
                <a:srgbClr val="D97756"/>
              </a:buClr>
              <a:buFont typeface="Arial"/>
              <a:buChar char="•"/>
            </a:pPr>
            <a:r>
              <a:rPr sz="1200" b="1" i="0">
                <a:solidFill>
                  <a:srgbClr val="F5F4EE"/>
                </a:solidFill>
                <a:latin typeface="Arial"/>
              </a:rPr>
              <a:t>Your secrets stay put.</a:t>
            </a:r>
            <a:r>
              <a:rPr sz="1200" b="0" i="0">
                <a:solidFill>
                  <a:srgbClr val="A9A69E"/>
                </a:solidFill>
                <a:latin typeface="Arial"/>
              </a:rPr>
              <a:t>  Keys are Fernet-encrypted on your machine and never returned to the browser.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THE MODEL LAYER</a:t>
            </a:r>
          </a:p>
        </p:txBody>
      </p:sp>
      <p:sp>
        <p:nvSpPr>
          <p:cNvPr id="5" name="TextBox 4"/>
          <p:cNvSpPr txBox="1"/>
          <p:nvPr/>
        </p:nvSpPr>
        <p:spPr>
          <a:xfrm>
            <a:off x="731520" y="868680"/>
            <a:ext cx="10728655" cy="914400"/>
          </a:xfrm>
          <a:prstGeom prst="rect">
            <a:avLst/>
          </a:prstGeom>
          <a:noFill/>
        </p:spPr>
        <p:txBody>
          <a:bodyPr wrap="square" anchor="t" lIns="0" rIns="0" tIns="0" bIns="0">
            <a:spAutoFit/>
          </a:bodyPr>
          <a:lstStyle/>
          <a:p>
            <a:pPr>
              <a:lnSpc>
                <a:spcPct val="105000"/>
              </a:lnSpc>
            </a:pPr>
            <a:r>
              <a:rPr sz="3300" b="1" i="0" spc="-15">
                <a:solidFill>
                  <a:srgbClr val="F5F4EE"/>
                </a:solidFill>
                <a:latin typeface="Arial"/>
              </a:rPr>
              <a:t>One model, done properly.</a:t>
            </a:r>
          </a:p>
        </p:txBody>
      </p:sp>
      <p:sp>
        <p:nvSpPr>
          <p:cNvPr id="6" name="Rounded Rectangle 5"/>
          <p:cNvSpPr/>
          <p:nvPr/>
        </p:nvSpPr>
        <p:spPr>
          <a:xfrm>
            <a:off x="731520" y="1581911"/>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07 / 12</a:t>
            </a:r>
          </a:p>
        </p:txBody>
      </p:sp>
      <p:sp>
        <p:nvSpPr>
          <p:cNvPr id="10" name="TextBox 9"/>
          <p:cNvSpPr txBox="1"/>
          <p:nvPr/>
        </p:nvSpPr>
        <p:spPr>
          <a:xfrm>
            <a:off x="731520" y="1892807"/>
            <a:ext cx="6766560" cy="3657600"/>
          </a:xfrm>
          <a:prstGeom prst="rect">
            <a:avLst/>
          </a:prstGeom>
          <a:noFill/>
        </p:spPr>
        <p:txBody>
          <a:bodyPr wrap="square" anchor="t" lIns="0" rIns="0" tIns="0" bIns="0">
            <a:spAutoFit/>
          </a:bodyPr>
          <a:lstStyle/>
          <a:p>
            <a:pPr marL="219456" indent="-219456">
              <a:lnSpc>
                <a:spcPct val="124000"/>
              </a:lnSpc>
              <a:spcAft>
                <a:spcPts val="1100"/>
              </a:spcAft>
              <a:buClr>
                <a:srgbClr val="D97756"/>
              </a:buClr>
              <a:buFont typeface="Arial"/>
              <a:buChar char="•"/>
            </a:pPr>
            <a:r>
              <a:rPr sz="1400" b="1" i="0">
                <a:solidFill>
                  <a:srgbClr val="F5F4EE"/>
                </a:solidFill>
                <a:latin typeface="Arial"/>
              </a:rPr>
              <a:t>Azure OpenAI gpt-6-luna.</a:t>
            </a:r>
            <a:r>
              <a:rPr sz="1400" b="0" i="0">
                <a:solidFill>
                  <a:srgbClr val="A9A69E"/>
                </a:solidFill>
                <a:latin typeface="Arial"/>
              </a:rPr>
              <a:t>  Called straight over the v1 Responses API - any endpoint shape works, no api-version quirks.</a:t>
            </a:r>
          </a:p>
          <a:p>
            <a:pPr marL="219456" indent="-219456">
              <a:lnSpc>
                <a:spcPct val="124000"/>
              </a:lnSpc>
              <a:spcAft>
                <a:spcPts val="1100"/>
              </a:spcAft>
              <a:buClr>
                <a:srgbClr val="D97756"/>
              </a:buClr>
              <a:buFont typeface="Arial"/>
              <a:buChar char="•"/>
            </a:pPr>
            <a:r>
              <a:rPr sz="1400" b="1" i="0">
                <a:solidFill>
                  <a:srgbClr val="F5F4EE"/>
                </a:solidFill>
                <a:latin typeface="Arial"/>
              </a:rPr>
              <a:t>Exact usage, exact cost.</a:t>
            </a:r>
            <a:r>
              <a:rPr sz="1400" b="0" i="0">
                <a:solidFill>
                  <a:srgbClr val="A9A69E"/>
                </a:solidFill>
                <a:latin typeface="Arial"/>
              </a:rPr>
              <a:t>  Uncached input, cached input, cache writes and output (incl. reasoning), priced at real rates.</a:t>
            </a:r>
          </a:p>
          <a:p>
            <a:pPr marL="219456" indent="-219456">
              <a:lnSpc>
                <a:spcPct val="124000"/>
              </a:lnSpc>
              <a:spcAft>
                <a:spcPts val="1100"/>
              </a:spcAft>
              <a:buClr>
                <a:srgbClr val="D97756"/>
              </a:buClr>
              <a:buFont typeface="Arial"/>
              <a:buChar char="•"/>
            </a:pPr>
            <a:r>
              <a:rPr sz="1400" b="1" i="0">
                <a:solidFill>
                  <a:srgbClr val="F5F4EE"/>
                </a:solidFill>
                <a:latin typeface="Arial"/>
              </a:rPr>
              <a:t>Reasoning effort per agent.</a:t>
            </a:r>
            <a:r>
              <a:rPr sz="1400" b="0" i="0">
                <a:solidFill>
                  <a:srgbClr val="A9A69E"/>
                </a:solidFill>
                <a:latin typeface="Arial"/>
              </a:rPr>
              <a:t>  none / low / medium / high / x-high / max - tune how hard each role thinks.</a:t>
            </a:r>
          </a:p>
          <a:p>
            <a:pPr marL="219456" indent="-219456">
              <a:lnSpc>
                <a:spcPct val="124000"/>
              </a:lnSpc>
              <a:spcAft>
                <a:spcPts val="1100"/>
              </a:spcAft>
              <a:buClr>
                <a:srgbClr val="D97756"/>
              </a:buClr>
              <a:buFont typeface="Arial"/>
              <a:buChar char="•"/>
            </a:pPr>
            <a:r>
              <a:rPr sz="1400" b="1" i="0">
                <a:solidFill>
                  <a:srgbClr val="F5F4EE"/>
                </a:solidFill>
                <a:latin typeface="Arial"/>
              </a:rPr>
              <a:t>Retries that behave.</a:t>
            </a:r>
            <a:r>
              <a:rPr sz="1400" b="0" i="0">
                <a:solidFill>
                  <a:srgbClr val="A9A69E"/>
                </a:solidFill>
                <a:latin typeface="Arial"/>
              </a:rPr>
              <a:t>  429s and 5xxs back off with jitter - but only before the first token streams.</a:t>
            </a:r>
          </a:p>
          <a:p>
            <a:pPr marL="219456" indent="-219456">
              <a:lnSpc>
                <a:spcPct val="124000"/>
              </a:lnSpc>
              <a:spcAft>
                <a:spcPts val="1100"/>
              </a:spcAft>
              <a:buClr>
                <a:srgbClr val="D97756"/>
              </a:buClr>
              <a:buFont typeface="Arial"/>
              <a:buChar char="•"/>
            </a:pPr>
            <a:r>
              <a:rPr sz="1400" b="1" i="0">
                <a:solidFill>
                  <a:srgbClr val="F5F4EE"/>
                </a:solidFill>
                <a:latin typeface="Arial"/>
              </a:rPr>
              <a:t>Demo Mode.</a:t>
            </a:r>
            <a:r>
              <a:rPr sz="1400" b="0" i="0">
                <a:solidFill>
                  <a:srgbClr val="A9A69E"/>
                </a:solidFill>
                <a:latin typeface="Arial"/>
              </a:rPr>
              <a:t>  A scripted, offline company that reacts to the real inbox. No keys, no network, free forever.</a:t>
            </a:r>
          </a:p>
        </p:txBody>
      </p:sp>
      <p:sp>
        <p:nvSpPr>
          <p:cNvPr id="11" name="Rounded Rectangle 10"/>
          <p:cNvSpPr/>
          <p:nvPr/>
        </p:nvSpPr>
        <p:spPr>
          <a:xfrm>
            <a:off x="7818120" y="1892807"/>
            <a:ext cx="3639312" cy="3291840"/>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Priced in your currency</a:t>
            </a:r>
          </a:p>
          <a:p>
            <a:pPr>
              <a:lnSpc>
                <a:spcPct val="122000"/>
              </a:lnSpc>
              <a:spcBef>
                <a:spcPts val="600"/>
              </a:spcBef>
            </a:pPr>
            <a:r>
              <a:rPr sz="1150" b="0" i="0">
                <a:solidFill>
                  <a:srgbClr val="A9A69E"/>
                </a:solidFill>
                <a:latin typeface="Arial"/>
              </a:rPr>
              <a:t>Per 1M tokens at gpt-6-luna Standard rates:
$0.10 input  ·  $0.01 cached
$0.125 cache writes  ·  $0.50 output
Long prompts over 272K bill at 2x input. Totals are stored in USD and shown in INR, EUR, GBP ... using live ECB rates, cached for 6 hours and offline-safe.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ENGINEERING</a:t>
            </a:r>
          </a:p>
        </p:txBody>
      </p:sp>
      <p:sp>
        <p:nvSpPr>
          <p:cNvPr id="5" name="TextBox 4"/>
          <p:cNvSpPr txBox="1"/>
          <p:nvPr/>
        </p:nvSpPr>
        <p:spPr>
          <a:xfrm>
            <a:off x="731520" y="868680"/>
            <a:ext cx="10728655" cy="914400"/>
          </a:xfrm>
          <a:prstGeom prst="rect">
            <a:avLst/>
          </a:prstGeom>
          <a:noFill/>
        </p:spPr>
        <p:txBody>
          <a:bodyPr wrap="square" anchor="t" lIns="0" rIns="0" tIns="0" bIns="0">
            <a:spAutoFit/>
          </a:bodyPr>
          <a:lstStyle/>
          <a:p>
            <a:pPr>
              <a:lnSpc>
                <a:spcPct val="105000"/>
              </a:lnSpc>
            </a:pPr>
            <a:r>
              <a:rPr sz="3300" b="1" i="0" spc="-15">
                <a:solidFill>
                  <a:srgbClr val="F5F4EE"/>
                </a:solidFill>
                <a:latin typeface="Arial"/>
              </a:rPr>
              <a:t>Built like real software.</a:t>
            </a:r>
          </a:p>
        </p:txBody>
      </p:sp>
      <p:sp>
        <p:nvSpPr>
          <p:cNvPr id="6" name="Rounded Rectangle 5"/>
          <p:cNvSpPr/>
          <p:nvPr/>
        </p:nvSpPr>
        <p:spPr>
          <a:xfrm>
            <a:off x="731520" y="1581911"/>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08 / 12</a:t>
            </a:r>
          </a:p>
        </p:txBody>
      </p:sp>
      <p:sp>
        <p:nvSpPr>
          <p:cNvPr id="10" name="Rounded Rectangle 9"/>
          <p:cNvSpPr/>
          <p:nvPr/>
        </p:nvSpPr>
        <p:spPr>
          <a:xfrm>
            <a:off x="731520" y="1892807"/>
            <a:ext cx="5276088" cy="1755648"/>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Backend</a:t>
            </a:r>
          </a:p>
          <a:p>
            <a:pPr>
              <a:lnSpc>
                <a:spcPct val="122000"/>
              </a:lnSpc>
              <a:spcBef>
                <a:spcPts val="600"/>
              </a:spcBef>
            </a:pPr>
            <a:r>
              <a:rPr sz="1150" b="0" i="0">
                <a:solidFill>
                  <a:srgbClr val="A9A69E"/>
                </a:solidFill>
                <a:latin typeface="Arial"/>
              </a:rPr>
              <a:t>FastAPI · SQLAlchemy + Alembic · async SQLite · WebSockets with snapshot + replay · structlog · MCP client · rate limiting and strict CORS.</a:t>
            </a:r>
          </a:p>
        </p:txBody>
      </p:sp>
      <p:sp>
        <p:nvSpPr>
          <p:cNvPr id="11" name="Rounded Rectangle 10"/>
          <p:cNvSpPr/>
          <p:nvPr/>
        </p:nvSpPr>
        <p:spPr>
          <a:xfrm>
            <a:off x="6327648" y="1892807"/>
            <a:ext cx="5276088" cy="1755648"/>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Frontend</a:t>
            </a:r>
          </a:p>
          <a:p>
            <a:pPr>
              <a:lnSpc>
                <a:spcPct val="122000"/>
              </a:lnSpc>
              <a:spcBef>
                <a:spcPts val="600"/>
              </a:spcBef>
            </a:pPr>
            <a:r>
              <a:rPr sz="1150" b="0" i="0">
                <a:solidFill>
                  <a:srgbClr val="A9A69E"/>
                </a:solidFill>
                <a:latin typeface="Arial"/>
              </a:rPr>
              <a:t>React 18 + TypeScript · Vite · Tailwind + shadcn-style UI · React Flow canvas · Zustand with history · Monaco · framer-motion. Fonts bundled - zero CDNs.</a:t>
            </a:r>
          </a:p>
        </p:txBody>
      </p:sp>
      <p:sp>
        <p:nvSpPr>
          <p:cNvPr id="12" name="Rounded Rectangle 11"/>
          <p:cNvSpPr/>
          <p:nvPr/>
        </p:nvSpPr>
        <p:spPr>
          <a:xfrm>
            <a:off x="731520" y="3922775"/>
            <a:ext cx="5276088" cy="1755648"/>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Typed by contract</a:t>
            </a:r>
          </a:p>
          <a:p>
            <a:pPr>
              <a:lnSpc>
                <a:spcPct val="122000"/>
              </a:lnSpc>
              <a:spcBef>
                <a:spcPts val="600"/>
              </a:spcBef>
            </a:pPr>
            <a:r>
              <a:rPr sz="1150" b="0" i="0">
                <a:solidFill>
                  <a:srgbClr val="A9A69E"/>
                </a:solidFill>
                <a:latin typeface="Arial"/>
              </a:rPr>
              <a:t>The TypeScript client is generated from FastAPI's OpenAPI schema in CI, so backend and UI can't drift apart.</a:t>
            </a:r>
          </a:p>
        </p:txBody>
      </p:sp>
      <p:sp>
        <p:nvSpPr>
          <p:cNvPr id="13" name="Rounded Rectangle 12"/>
          <p:cNvSpPr/>
          <p:nvPr/>
        </p:nvSpPr>
        <p:spPr>
          <a:xfrm>
            <a:off x="6327648" y="3922775"/>
            <a:ext cx="5276088" cy="1755648"/>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Tested &amp; shipped</a:t>
            </a:r>
          </a:p>
          <a:p>
            <a:pPr>
              <a:lnSpc>
                <a:spcPct val="122000"/>
              </a:lnSpc>
              <a:spcBef>
                <a:spcPts val="600"/>
              </a:spcBef>
            </a:pPr>
            <a:r>
              <a:rPr sz="1150" b="0" i="0">
                <a:solidFill>
                  <a:srgbClr val="A9A69E"/>
                </a:solidFill>
                <a:latin typeface="Arial"/>
              </a:rPr>
              <a:t>pytest (68 tests) + vitest + Playwright E2E on every push, then CD publishes ghcr.io images. Docker compose for a fully containered run.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PROOF</a:t>
            </a:r>
          </a:p>
        </p:txBody>
      </p:sp>
      <p:sp>
        <p:nvSpPr>
          <p:cNvPr id="5" name="TextBox 4"/>
          <p:cNvSpPr txBox="1"/>
          <p:nvPr/>
        </p:nvSpPr>
        <p:spPr>
          <a:xfrm>
            <a:off x="731520" y="868680"/>
            <a:ext cx="10728655" cy="914400"/>
          </a:xfrm>
          <a:prstGeom prst="rect">
            <a:avLst/>
          </a:prstGeom>
          <a:noFill/>
        </p:spPr>
        <p:txBody>
          <a:bodyPr wrap="square" anchor="t" lIns="0" rIns="0" tIns="0" bIns="0">
            <a:spAutoFit/>
          </a:bodyPr>
          <a:lstStyle/>
          <a:p>
            <a:pPr>
              <a:lnSpc>
                <a:spcPct val="105000"/>
              </a:lnSpc>
            </a:pPr>
            <a:r>
              <a:rPr sz="3300" b="1" i="0" spc="-15">
                <a:solidFill>
                  <a:srgbClr val="F5F4EE"/>
                </a:solidFill>
                <a:latin typeface="Arial"/>
              </a:rPr>
              <a:t>Proof, not promises.</a:t>
            </a:r>
          </a:p>
        </p:txBody>
      </p:sp>
      <p:sp>
        <p:nvSpPr>
          <p:cNvPr id="6" name="Rounded Rectangle 5"/>
          <p:cNvSpPr/>
          <p:nvPr/>
        </p:nvSpPr>
        <p:spPr>
          <a:xfrm>
            <a:off x="731520" y="1581911"/>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09 / 12</a:t>
            </a:r>
          </a:p>
        </p:txBody>
      </p:sp>
      <p:sp>
        <p:nvSpPr>
          <p:cNvPr id="10" name="TextBox 9"/>
          <p:cNvSpPr txBox="1"/>
          <p:nvPr/>
        </p:nvSpPr>
        <p:spPr>
          <a:xfrm>
            <a:off x="731520" y="1892807"/>
            <a:ext cx="6766560" cy="3657600"/>
          </a:xfrm>
          <a:prstGeom prst="rect">
            <a:avLst/>
          </a:prstGeom>
          <a:noFill/>
        </p:spPr>
        <p:txBody>
          <a:bodyPr wrap="square" anchor="t" lIns="0" rIns="0" tIns="0" bIns="0">
            <a:spAutoFit/>
          </a:bodyPr>
          <a:lstStyle/>
          <a:p>
            <a:pPr marL="219456" indent="-219456">
              <a:lnSpc>
                <a:spcPct val="124000"/>
              </a:lnSpc>
              <a:spcAft>
                <a:spcPts val="1100"/>
              </a:spcAft>
              <a:buClr>
                <a:srgbClr val="D97756"/>
              </a:buClr>
              <a:buFont typeface="Arial"/>
              <a:buChar char="•"/>
            </a:pPr>
            <a:r>
              <a:rPr sz="1400" b="1" i="0">
                <a:solidFill>
                  <a:srgbClr val="F5F4EE"/>
                </a:solidFill>
                <a:latin typeface="Arial"/>
              </a:rPr>
              <a:t>1-minute demo, real footage.</a:t>
            </a:r>
            <a:r>
              <a:rPr sz="1400" b="0" i="0">
                <a:solidFill>
                  <a:srgbClr val="A9A69E"/>
                </a:solidFill>
                <a:latin typeface="Arial"/>
              </a:rPr>
              <a:t>  Recorded from the actual app in Demo Mode by scripts/demo-video/record.mjs - regenerate with one command.</a:t>
            </a:r>
          </a:p>
          <a:p>
            <a:pPr marL="219456" indent="-219456">
              <a:lnSpc>
                <a:spcPct val="124000"/>
              </a:lnSpc>
              <a:spcAft>
                <a:spcPts val="1100"/>
              </a:spcAft>
              <a:buClr>
                <a:srgbClr val="D97756"/>
              </a:buClr>
              <a:buFont typeface="Arial"/>
              <a:buChar char="•"/>
            </a:pPr>
            <a:r>
              <a:rPr sz="1400" b="1" i="0">
                <a:solidFill>
                  <a:srgbClr val="F5F4EE"/>
                </a:solidFill>
                <a:latin typeface="Arial"/>
              </a:rPr>
              <a:t>14 team templates.</a:t>
            </a:r>
            <a:r>
              <a:rPr sz="1400" b="0" i="0">
                <a:solidFill>
                  <a:srgbClr val="A9A69E"/>
                </a:solidFill>
                <a:latin typeface="Arial"/>
              </a:rPr>
              <a:t>  Software startup, web studio, game studio, SaaS launch, security audit, research lab, support desk ...</a:t>
            </a:r>
          </a:p>
          <a:p>
            <a:pPr marL="219456" indent="-219456">
              <a:lnSpc>
                <a:spcPct val="124000"/>
              </a:lnSpc>
              <a:spcAft>
                <a:spcPts val="1100"/>
              </a:spcAft>
              <a:buClr>
                <a:srgbClr val="D97756"/>
              </a:buClr>
              <a:buFont typeface="Arial"/>
              <a:buChar char="•"/>
            </a:pPr>
            <a:r>
              <a:rPr sz="1400" b="1" i="0">
                <a:solidFill>
                  <a:srgbClr val="F5F4EE"/>
                </a:solidFill>
                <a:latin typeface="Arial"/>
              </a:rPr>
              <a:t>End-to-end tests that matter.</a:t>
            </a:r>
            <a:r>
              <a:rPr sz="1400" b="0" i="0">
                <a:solidFill>
                  <a:srgbClr val="A9A69E"/>
                </a:solidFill>
                <a:latin typeface="Arial"/>
              </a:rPr>
              <a:t>  E2E covers the happy path, run continuation, approvals, org generation and live hiring.</a:t>
            </a:r>
          </a:p>
          <a:p>
            <a:pPr marL="219456" indent="-219456">
              <a:lnSpc>
                <a:spcPct val="124000"/>
              </a:lnSpc>
              <a:spcAft>
                <a:spcPts val="1100"/>
              </a:spcAft>
              <a:buClr>
                <a:srgbClr val="D97756"/>
              </a:buClr>
              <a:buFont typeface="Arial"/>
              <a:buChar char="•"/>
            </a:pPr>
            <a:r>
              <a:rPr sz="1400" b="1" i="0">
                <a:solidFill>
                  <a:srgbClr val="F5F4EE"/>
                </a:solidFill>
                <a:latin typeface="Arial"/>
              </a:rPr>
              <a:t>One command to run.</a:t>
            </a:r>
            <a:r>
              <a:rPr sz="1400" b="0" i="0">
                <a:solidFill>
                  <a:srgbClr val="A9A69E"/>
                </a:solidFill>
                <a:latin typeface="Arial"/>
              </a:rPr>
              <a:t>  make setup &amp;&amp; make start -&gt; http://localhost:8000. Python 3.11 + Node 20, nothing else.</a:t>
            </a:r>
          </a:p>
          <a:p>
            <a:pPr marL="219456" indent="-219456">
              <a:lnSpc>
                <a:spcPct val="124000"/>
              </a:lnSpc>
              <a:spcAft>
                <a:spcPts val="1100"/>
              </a:spcAft>
              <a:buClr>
                <a:srgbClr val="D97756"/>
              </a:buClr>
              <a:buFont typeface="Arial"/>
              <a:buChar char="•"/>
            </a:pPr>
            <a:r>
              <a:rPr sz="1400" b="1" i="0">
                <a:solidFill>
                  <a:srgbClr val="F5F4EE"/>
                </a:solidFill>
                <a:latin typeface="Arial"/>
              </a:rPr>
              <a:t>Docs that keep up.</a:t>
            </a:r>
            <a:r>
              <a:rPr sz="1400" b="0" i="0">
                <a:solidFill>
                  <a:srgbClr val="A9A69E"/>
                </a:solidFill>
                <a:latin typeface="Arial"/>
              </a:rPr>
              <a:t>  README, ARCHITECTURE, DEMO script and an illustrated in-app Guide covering every feature.</a:t>
            </a:r>
          </a:p>
        </p:txBody>
      </p:sp>
      <p:sp>
        <p:nvSpPr>
          <p:cNvPr id="11" name="Rounded Rectangle 10"/>
          <p:cNvSpPr/>
          <p:nvPr/>
        </p:nvSpPr>
        <p:spPr>
          <a:xfrm>
            <a:off x="7818120" y="1892807"/>
            <a:ext cx="1773936" cy="1463040"/>
          </a:xfrm>
          <a:prstGeom prst="roundRect">
            <a:avLst>
              <a:gd name="adj" fmla="val 100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tIns="219456"/>
          <a:lstStyle/>
          <a:p>
            <a:pPr algn="ctr"/>
            <a:r>
              <a:rPr sz="3000" b="1" i="0">
                <a:solidFill>
                  <a:srgbClr val="D97756"/>
                </a:solidFill>
                <a:latin typeface="Arial"/>
              </a:rPr>
              <a:t>216</a:t>
            </a:r>
          </a:p>
          <a:p>
            <a:pPr algn="ctr">
              <a:spcBef>
                <a:spcPts val="400"/>
              </a:spcBef>
            </a:pPr>
            <a:r>
              <a:rPr sz="1050" b="0" i="0">
                <a:solidFill>
                  <a:srgbClr val="A9A69E"/>
                </a:solidFill>
                <a:latin typeface="Arial"/>
              </a:rPr>
              <a:t>files in repo</a:t>
            </a:r>
          </a:p>
        </p:txBody>
      </p:sp>
      <p:sp>
        <p:nvSpPr>
          <p:cNvPr id="12" name="Rounded Rectangle 11"/>
          <p:cNvSpPr/>
          <p:nvPr/>
        </p:nvSpPr>
        <p:spPr>
          <a:xfrm>
            <a:off x="9793224" y="1892807"/>
            <a:ext cx="1773936" cy="1463040"/>
          </a:xfrm>
          <a:prstGeom prst="roundRect">
            <a:avLst>
              <a:gd name="adj" fmla="val 100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tIns="219456"/>
          <a:lstStyle/>
          <a:p>
            <a:pPr algn="ctr"/>
            <a:r>
              <a:rPr sz="3000" b="1" i="0">
                <a:solidFill>
                  <a:srgbClr val="D97756"/>
                </a:solidFill>
                <a:latin typeface="Arial"/>
              </a:rPr>
              <a:t>23k+</a:t>
            </a:r>
          </a:p>
          <a:p>
            <a:pPr algn="ctr">
              <a:spcBef>
                <a:spcPts val="400"/>
              </a:spcBef>
            </a:pPr>
            <a:r>
              <a:rPr sz="1050" b="0" i="0">
                <a:solidFill>
                  <a:srgbClr val="A9A69E"/>
                </a:solidFill>
                <a:latin typeface="Arial"/>
              </a:rPr>
              <a:t>lines of code</a:t>
            </a:r>
          </a:p>
        </p:txBody>
      </p:sp>
      <p:sp>
        <p:nvSpPr>
          <p:cNvPr id="13" name="Rounded Rectangle 12"/>
          <p:cNvSpPr/>
          <p:nvPr/>
        </p:nvSpPr>
        <p:spPr>
          <a:xfrm>
            <a:off x="7818120" y="3557015"/>
            <a:ext cx="1773936" cy="1463040"/>
          </a:xfrm>
          <a:prstGeom prst="roundRect">
            <a:avLst>
              <a:gd name="adj" fmla="val 100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tIns="219456"/>
          <a:lstStyle/>
          <a:p>
            <a:pPr algn="ctr"/>
            <a:r>
              <a:rPr sz="3000" b="1" i="0">
                <a:solidFill>
                  <a:srgbClr val="D97756"/>
                </a:solidFill>
                <a:latin typeface="Arial"/>
              </a:rPr>
              <a:t>14</a:t>
            </a:r>
          </a:p>
          <a:p>
            <a:pPr algn="ctr">
              <a:spcBef>
                <a:spcPts val="400"/>
              </a:spcBef>
            </a:pPr>
            <a:r>
              <a:rPr sz="1050" b="0" i="0">
                <a:solidFill>
                  <a:srgbClr val="A9A69E"/>
                </a:solidFill>
                <a:latin typeface="Arial"/>
              </a:rPr>
              <a:t>team templates</a:t>
            </a:r>
          </a:p>
        </p:txBody>
      </p:sp>
      <p:sp>
        <p:nvSpPr>
          <p:cNvPr id="14" name="Rounded Rectangle 13"/>
          <p:cNvSpPr/>
          <p:nvPr/>
        </p:nvSpPr>
        <p:spPr>
          <a:xfrm>
            <a:off x="9793224" y="3557015"/>
            <a:ext cx="1773936" cy="1463040"/>
          </a:xfrm>
          <a:prstGeom prst="roundRect">
            <a:avLst>
              <a:gd name="adj" fmla="val 100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09728" tIns="219456"/>
          <a:lstStyle/>
          <a:p>
            <a:pPr algn="ctr"/>
            <a:r>
              <a:rPr sz="3000" b="1" i="0">
                <a:solidFill>
                  <a:srgbClr val="D97756"/>
                </a:solidFill>
                <a:latin typeface="Arial"/>
              </a:rPr>
              <a:t>68</a:t>
            </a:r>
          </a:p>
          <a:p>
            <a:pPr algn="ctr">
              <a:spcBef>
                <a:spcPts val="400"/>
              </a:spcBef>
            </a:pPr>
            <a:r>
              <a:rPr sz="1050" b="0" i="0">
                <a:solidFill>
                  <a:srgbClr val="A9A69E"/>
                </a:solidFill>
                <a:latin typeface="Arial"/>
              </a:rPr>
              <a:t>pytest tests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WHERE THIS GOES</a:t>
            </a:r>
          </a:p>
        </p:txBody>
      </p:sp>
      <p:sp>
        <p:nvSpPr>
          <p:cNvPr id="5" name="TextBox 4"/>
          <p:cNvSpPr txBox="1"/>
          <p:nvPr/>
        </p:nvSpPr>
        <p:spPr>
          <a:xfrm>
            <a:off x="731520" y="868680"/>
            <a:ext cx="10728655" cy="914400"/>
          </a:xfrm>
          <a:prstGeom prst="rect">
            <a:avLst/>
          </a:prstGeom>
          <a:noFill/>
        </p:spPr>
        <p:txBody>
          <a:bodyPr wrap="square" anchor="t" lIns="0" rIns="0" tIns="0" bIns="0">
            <a:spAutoFit/>
          </a:bodyPr>
          <a:lstStyle/>
          <a:p>
            <a:pPr>
              <a:lnSpc>
                <a:spcPct val="105000"/>
              </a:lnSpc>
            </a:pPr>
            <a:r>
              <a:rPr sz="3300" b="1" i="0" spc="-15">
                <a:solidFill>
                  <a:srgbClr val="F5F4EE"/>
                </a:solidFill>
                <a:latin typeface="Arial"/>
              </a:rPr>
              <a:t>Every team gets an AI company.</a:t>
            </a:r>
          </a:p>
        </p:txBody>
      </p:sp>
      <p:sp>
        <p:nvSpPr>
          <p:cNvPr id="6" name="Rounded Rectangle 5"/>
          <p:cNvSpPr/>
          <p:nvPr/>
        </p:nvSpPr>
        <p:spPr>
          <a:xfrm>
            <a:off x="731520" y="1581911"/>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10 / 12</a:t>
            </a:r>
          </a:p>
        </p:txBody>
      </p:sp>
      <p:sp>
        <p:nvSpPr>
          <p:cNvPr id="10" name="TextBox 9"/>
          <p:cNvSpPr txBox="1"/>
          <p:nvPr/>
        </p:nvSpPr>
        <p:spPr>
          <a:xfrm>
            <a:off x="731520" y="1892807"/>
            <a:ext cx="6949440" cy="3840480"/>
          </a:xfrm>
          <a:prstGeom prst="rect">
            <a:avLst/>
          </a:prstGeom>
          <a:noFill/>
        </p:spPr>
        <p:txBody>
          <a:bodyPr wrap="square" anchor="t" lIns="0" rIns="0" tIns="0" bIns="0">
            <a:spAutoFit/>
          </a:bodyPr>
          <a:lstStyle/>
          <a:p>
            <a:pPr marL="219456" indent="-219456">
              <a:lnSpc>
                <a:spcPct val="124000"/>
              </a:lnSpc>
              <a:spcAft>
                <a:spcPts val="1100"/>
              </a:spcAft>
              <a:buClr>
                <a:srgbClr val="D97756"/>
              </a:buClr>
              <a:buFont typeface="Arial"/>
              <a:buChar char="•"/>
            </a:pPr>
            <a:r>
              <a:rPr sz="1450" b="1" i="0">
                <a:solidFill>
                  <a:srgbClr val="F5F4EE"/>
                </a:solidFill>
                <a:latin typeface="Arial"/>
              </a:rPr>
              <a:t>Beyond code.</a:t>
            </a:r>
            <a:r>
              <a:rPr sz="1450" b="0" i="0">
                <a:solidFill>
                  <a:srgbClr val="A9A69E"/>
                </a:solidFill>
                <a:latin typeface="Arial"/>
              </a:rPr>
              <a:t>  The same org model runs content studios, research labs, support desks - the templates already exist.</a:t>
            </a:r>
          </a:p>
          <a:p>
            <a:pPr marL="219456" indent="-219456">
              <a:lnSpc>
                <a:spcPct val="124000"/>
              </a:lnSpc>
              <a:spcAft>
                <a:spcPts val="1100"/>
              </a:spcAft>
              <a:buClr>
                <a:srgbClr val="D97756"/>
              </a:buClr>
              <a:buFont typeface="Arial"/>
              <a:buChar char="•"/>
            </a:pPr>
            <a:r>
              <a:rPr sz="1450" b="1" i="0">
                <a:solidFill>
                  <a:srgbClr val="F5F4EE"/>
                </a:solidFill>
                <a:latin typeface="Arial"/>
              </a:rPr>
              <a:t>A marketplace of teams.</a:t>
            </a:r>
            <a:r>
              <a:rPr sz="1450" b="0" i="0">
                <a:solidFill>
                  <a:srgbClr val="A9A69E"/>
                </a:solidFill>
                <a:latin typeface="Arial"/>
              </a:rPr>
              <a:t>  Publish, fork and rate companies the way people share Dockerfiles today.</a:t>
            </a:r>
          </a:p>
          <a:p>
            <a:pPr marL="219456" indent="-219456">
              <a:lnSpc>
                <a:spcPct val="124000"/>
              </a:lnSpc>
              <a:spcAft>
                <a:spcPts val="1100"/>
              </a:spcAft>
              <a:buClr>
                <a:srgbClr val="D97756"/>
              </a:buClr>
              <a:buFont typeface="Arial"/>
              <a:buChar char="•"/>
            </a:pPr>
            <a:r>
              <a:rPr sz="1450" b="1" i="0">
                <a:solidFill>
                  <a:srgbClr val="F5F4EE"/>
                </a:solidFill>
                <a:latin typeface="Arial"/>
              </a:rPr>
              <a:t>Hosted control plane.</a:t>
            </a:r>
            <a:r>
              <a:rPr sz="1450" b="0" i="0">
                <a:solidFill>
                  <a:srgbClr val="A9A69E"/>
                </a:solidFill>
                <a:latin typeface="Arial"/>
              </a:rPr>
              <a:t>  Same local-first core, with team sharing, SSO and org analytics for companies.</a:t>
            </a:r>
          </a:p>
          <a:p>
            <a:pPr marL="219456" indent="-219456">
              <a:lnSpc>
                <a:spcPct val="124000"/>
              </a:lnSpc>
              <a:spcAft>
                <a:spcPts val="1100"/>
              </a:spcAft>
              <a:buClr>
                <a:srgbClr val="D97756"/>
              </a:buClr>
              <a:buFont typeface="Arial"/>
              <a:buChar char="•"/>
            </a:pPr>
            <a:r>
              <a:rPr sz="1450" b="1" i="0">
                <a:solidFill>
                  <a:srgbClr val="F5F4EE"/>
                </a:solidFill>
                <a:latin typeface="Arial"/>
              </a:rPr>
              <a:t>The folder is the contract.</a:t>
            </a:r>
            <a:r>
              <a:rPr sz="1450" b="0" i="0">
                <a:solidFill>
                  <a:srgbClr val="A9A69E"/>
                </a:solidFill>
                <a:latin typeface="Arial"/>
              </a:rPr>
              <a:t>  Portable, auditable, diff-able - your agents and your output never lock into our cloud.</a:t>
            </a:r>
          </a:p>
        </p:txBody>
      </p:sp>
      <p:sp>
        <p:nvSpPr>
          <p:cNvPr id="11" name="Rounded Rectangle 10"/>
          <p:cNvSpPr/>
          <p:nvPr/>
        </p:nvSpPr>
        <p:spPr>
          <a:xfrm>
            <a:off x="8001000" y="1892807"/>
            <a:ext cx="3456432" cy="3108960"/>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00" b="1" i="0">
                <a:solidFill>
                  <a:srgbClr val="F5F4EE"/>
                </a:solidFill>
                <a:latin typeface="Arial"/>
              </a:rPr>
              <a:t>Why now</a:t>
            </a:r>
          </a:p>
          <a:p>
            <a:pPr>
              <a:lnSpc>
                <a:spcPct val="122000"/>
              </a:lnSpc>
              <a:spcBef>
                <a:spcPts val="600"/>
              </a:spcBef>
            </a:pPr>
            <a:r>
              <a:rPr sz="1150" b="0" i="0">
                <a:solidFill>
                  <a:srgbClr val="A9A69E"/>
                </a:solidFill>
                <a:latin typeface="Arial"/>
              </a:rPr>
              <a:t>Models finally handle multi-step tool use reliably, MCP made tools plug-and-play, and every team already wants leverage. The winning product won't be a better chat box - it'll be the thing that organizes the work.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F1E1D"/>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66928"/>
            <a:ext cx="10728655" cy="274320"/>
          </a:xfrm>
          <a:prstGeom prst="rect">
            <a:avLst/>
          </a:prstGeom>
          <a:noFill/>
        </p:spPr>
        <p:txBody>
          <a:bodyPr wrap="square" anchor="t" lIns="0" rIns="0" tIns="0" bIns="0">
            <a:spAutoFit/>
          </a:bodyPr>
          <a:lstStyle/>
          <a:p>
            <a:r>
              <a:rPr sz="1100" b="1" i="0" spc="220">
                <a:solidFill>
                  <a:srgbClr val="D97756"/>
                </a:solidFill>
                <a:latin typeface="Arial"/>
              </a:rPr>
              <a:t>THE ASK</a:t>
            </a:r>
          </a:p>
        </p:txBody>
      </p:sp>
      <p:sp>
        <p:nvSpPr>
          <p:cNvPr id="5" name="TextBox 4"/>
          <p:cNvSpPr txBox="1"/>
          <p:nvPr/>
        </p:nvSpPr>
        <p:spPr>
          <a:xfrm>
            <a:off x="731520" y="868680"/>
            <a:ext cx="10728655" cy="914400"/>
          </a:xfrm>
          <a:prstGeom prst="rect">
            <a:avLst/>
          </a:prstGeom>
          <a:noFill/>
        </p:spPr>
        <p:txBody>
          <a:bodyPr wrap="square" anchor="t" lIns="0" rIns="0" tIns="0" bIns="0">
            <a:spAutoFit/>
          </a:bodyPr>
          <a:lstStyle/>
          <a:p>
            <a:pPr>
              <a:lnSpc>
                <a:spcPct val="105000"/>
              </a:lnSpc>
            </a:pPr>
            <a:r>
              <a:rPr sz="3300" b="1" i="0" spc="-15">
                <a:solidFill>
                  <a:srgbClr val="F5F4EE"/>
                </a:solidFill>
                <a:latin typeface="Arial"/>
              </a:rPr>
              <a:t>Vivek, here is the ask.</a:t>
            </a:r>
          </a:p>
        </p:txBody>
      </p:sp>
      <p:sp>
        <p:nvSpPr>
          <p:cNvPr id="6" name="Rounded Rectangle 5"/>
          <p:cNvSpPr/>
          <p:nvPr/>
        </p:nvSpPr>
        <p:spPr>
          <a:xfrm>
            <a:off x="731520" y="1581911"/>
            <a:ext cx="1051560" cy="50292"/>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36792"/>
            <a:ext cx="10728655" cy="10058"/>
          </a:xfrm>
          <a:prstGeom prst="rect">
            <a:avLst/>
          </a:prstGeom>
          <a:solidFill>
            <a:srgbClr val="3734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28232"/>
            <a:ext cx="6400800" cy="274320"/>
          </a:xfrm>
          <a:prstGeom prst="rect">
            <a:avLst/>
          </a:prstGeom>
          <a:noFill/>
        </p:spPr>
        <p:txBody>
          <a:bodyPr wrap="square" anchor="t" lIns="0" rIns="0" tIns="0" bIns="0">
            <a:spAutoFit/>
          </a:bodyPr>
          <a:lstStyle/>
          <a:p>
            <a:r>
              <a:rPr sz="850" b="0" i="0" spc="140">
                <a:solidFill>
                  <a:srgbClr val="8A8780"/>
                </a:solidFill>
                <a:latin typeface="Arial"/>
              </a:rPr>
              <a:t>OCTOPUS  ·  PITCH FOR VIVEK</a:t>
            </a:r>
          </a:p>
        </p:txBody>
      </p:sp>
      <p:sp>
        <p:nvSpPr>
          <p:cNvPr id="9" name="TextBox 8"/>
          <p:cNvSpPr txBox="1"/>
          <p:nvPr/>
        </p:nvSpPr>
        <p:spPr>
          <a:xfrm>
            <a:off x="10424160" y="6428232"/>
            <a:ext cx="1033271" cy="274320"/>
          </a:xfrm>
          <a:prstGeom prst="rect">
            <a:avLst/>
          </a:prstGeom>
          <a:noFill/>
        </p:spPr>
        <p:txBody>
          <a:bodyPr wrap="square" anchor="t" lIns="0" rIns="0" tIns="0" bIns="0">
            <a:spAutoFit/>
          </a:bodyPr>
          <a:lstStyle/>
          <a:p>
            <a:pPr algn="r"/>
            <a:r>
              <a:rPr sz="850" b="0" i="0" spc="140">
                <a:solidFill>
                  <a:srgbClr val="8A8780"/>
                </a:solidFill>
                <a:latin typeface="Arial"/>
              </a:rPr>
              <a:t>11 / 12</a:t>
            </a:r>
          </a:p>
        </p:txBody>
      </p:sp>
      <p:sp>
        <p:nvSpPr>
          <p:cNvPr id="10" name="Rounded Rectangle 9"/>
          <p:cNvSpPr/>
          <p:nvPr/>
        </p:nvSpPr>
        <p:spPr>
          <a:xfrm>
            <a:off x="731520" y="1938526"/>
            <a:ext cx="3447288" cy="2377440"/>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50" b="1" i="0">
                <a:solidFill>
                  <a:srgbClr val="D97756"/>
                </a:solidFill>
                <a:latin typeface="Arial"/>
              </a:rPr>
              <a:t>01   </a:t>
            </a:r>
            <a:r>
              <a:rPr sz="1550" b="1" i="0">
                <a:solidFill>
                  <a:srgbClr val="F5F4EE"/>
                </a:solidFill>
                <a:latin typeface="Arial"/>
              </a:rPr>
              <a:t>Be our first power user</a:t>
            </a:r>
          </a:p>
          <a:p>
            <a:pPr>
              <a:lnSpc>
                <a:spcPct val="122000"/>
              </a:lnSpc>
              <a:spcBef>
                <a:spcPts val="600"/>
              </a:spcBef>
            </a:pPr>
            <a:r>
              <a:rPr sz="1200" b="0" i="0">
                <a:solidFill>
                  <a:srgbClr val="A9A69E"/>
                </a:solidFill>
                <a:latin typeface="Arial"/>
              </a:rPr>
              <a:t>Run one real goal end to end this week - a real project, not a toy - and tear the experience apart.</a:t>
            </a:r>
          </a:p>
        </p:txBody>
      </p:sp>
      <p:sp>
        <p:nvSpPr>
          <p:cNvPr id="11" name="Rounded Rectangle 10"/>
          <p:cNvSpPr/>
          <p:nvPr/>
        </p:nvSpPr>
        <p:spPr>
          <a:xfrm>
            <a:off x="4462272" y="1938526"/>
            <a:ext cx="3447288" cy="2377440"/>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50" b="1" i="0">
                <a:solidFill>
                  <a:srgbClr val="D97756"/>
                </a:solidFill>
                <a:latin typeface="Arial"/>
              </a:rPr>
              <a:t>02   </a:t>
            </a:r>
            <a:r>
              <a:rPr sz="1550" b="1" i="0">
                <a:solidFill>
                  <a:srgbClr val="F5F4EE"/>
                </a:solidFill>
                <a:latin typeface="Arial"/>
              </a:rPr>
              <a:t>Open doors</a:t>
            </a:r>
          </a:p>
          <a:p>
            <a:pPr>
              <a:lnSpc>
                <a:spcPct val="122000"/>
              </a:lnSpc>
              <a:spcBef>
                <a:spcPts val="600"/>
              </a:spcBef>
            </a:pPr>
            <a:r>
              <a:rPr sz="1200" b="0" i="0">
                <a:solidFill>
                  <a:srgbClr val="A9A69E"/>
                </a:solidFill>
                <a:latin typeface="Arial"/>
              </a:rPr>
              <a:t>Intros to 3 teams who would run an AI company daily: agencies, dev shops, studios, research groups.</a:t>
            </a:r>
          </a:p>
        </p:txBody>
      </p:sp>
      <p:sp>
        <p:nvSpPr>
          <p:cNvPr id="12" name="Rounded Rectangle 11"/>
          <p:cNvSpPr/>
          <p:nvPr/>
        </p:nvSpPr>
        <p:spPr>
          <a:xfrm>
            <a:off x="8193024" y="1938526"/>
            <a:ext cx="3447288" cy="2377440"/>
          </a:xfrm>
          <a:prstGeom prst="roundRect">
            <a:avLst>
              <a:gd name="adj" fmla="val 7500"/>
            </a:avLst>
          </a:prstGeom>
          <a:solidFill>
            <a:srgbClr val="2C2C2C"/>
          </a:solidFill>
          <a:ln w="9525">
            <a:solidFill>
              <a:srgbClr val="444442"/>
            </a:solidFill>
          </a:ln>
          <a:effectLst/>
        </p:spPr>
        <p:style>
          <a:lnRef idx="1">
            <a:schemeClr val="accent1"/>
          </a:lnRef>
          <a:fillRef idx="3">
            <a:schemeClr val="accent1"/>
          </a:fillRef>
          <a:effectRef idx="2">
            <a:schemeClr val="accent1"/>
          </a:effectRef>
          <a:fontRef idx="minor">
            <a:schemeClr val="lt1"/>
          </a:fontRef>
        </p:style>
        <p:txBody>
          <a:bodyPr rtlCol="0" anchor="t" wrap="square" lIns="219456" rIns="219456" tIns="164592" bIns="146304"/>
          <a:lstStyle/>
          <a:p>
            <a:pPr algn="ctr">
              <a:lnSpc>
                <a:spcPct val="105000"/>
              </a:lnSpc>
            </a:pPr>
            <a:r>
              <a:rPr sz="1550" b="1" i="0">
                <a:solidFill>
                  <a:srgbClr val="D97756"/>
                </a:solidFill>
                <a:latin typeface="Arial"/>
              </a:rPr>
              <a:t>03   </a:t>
            </a:r>
            <a:r>
              <a:rPr sz="1550" b="1" i="0">
                <a:solidFill>
                  <a:srgbClr val="F5F4EE"/>
                </a:solidFill>
                <a:latin typeface="Arial"/>
              </a:rPr>
              <a:t>Advise us</a:t>
            </a:r>
          </a:p>
          <a:p>
            <a:pPr>
              <a:lnSpc>
                <a:spcPct val="122000"/>
              </a:lnSpc>
              <a:spcBef>
                <a:spcPts val="600"/>
              </a:spcBef>
            </a:pPr>
            <a:r>
              <a:rPr sz="1200" b="0" i="0">
                <a:solidFill>
                  <a:srgbClr val="A9A69E"/>
                </a:solidFill>
                <a:latin typeface="Arial"/>
              </a:rPr>
              <a:t>Pricing and packaging, open-source go-to-market, and the path to a hosted version without betraying local-first.</a:t>
            </a:r>
          </a:p>
        </p:txBody>
      </p:sp>
      <p:sp>
        <p:nvSpPr>
          <p:cNvPr id="13" name="TextBox 12"/>
          <p:cNvSpPr txBox="1"/>
          <p:nvPr/>
        </p:nvSpPr>
        <p:spPr>
          <a:xfrm>
            <a:off x="731520" y="4571998"/>
            <a:ext cx="10728655" cy="457200"/>
          </a:xfrm>
          <a:prstGeom prst="rect">
            <a:avLst/>
          </a:prstGeom>
          <a:noFill/>
        </p:spPr>
        <p:txBody>
          <a:bodyPr wrap="square" anchor="t" lIns="0" rIns="0" tIns="0" bIns="0">
            <a:spAutoFit/>
          </a:bodyPr>
          <a:lstStyle/>
          <a:p>
            <a:pPr algn="l">
              <a:lnSpc>
                <a:spcPct val="130000"/>
              </a:lnSpc>
            </a:pPr>
            <a:r>
              <a:rPr sz="1350" b="0" i="0">
                <a:solidFill>
                  <a:srgbClr val="A9A69E"/>
                </a:solidFill>
                <a:latin typeface="Arial"/>
              </a:rPr>
              <a:t>In return: the 90-day roadmap (hosted teams, marketplace, org analytics) and a build partner who ships weekly and shares every number.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141413"/>
              </a:gs>
              <a:gs pos="100000">
                <a:srgbClr val="111110"/>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784080" y="4480560"/>
            <a:ext cx="3291840" cy="3291840"/>
          </a:xfrm>
          <a:prstGeom prst="ellipse">
            <a:avLst/>
          </a:prstGeom>
          <a:solidFill>
            <a:srgbClr val="2622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148840"/>
            <a:ext cx="9994392" cy="2011680"/>
          </a:xfrm>
          <a:prstGeom prst="rect">
            <a:avLst/>
          </a:prstGeom>
          <a:noFill/>
        </p:spPr>
        <p:txBody>
          <a:bodyPr wrap="square" anchor="t" lIns="0" rIns="0" tIns="0" bIns="0">
            <a:spAutoFit/>
          </a:bodyPr>
          <a:lstStyle/>
          <a:p>
            <a:pPr algn="ctr">
              <a:lnSpc>
                <a:spcPct val="115000"/>
              </a:lnSpc>
            </a:pPr>
            <a:r>
              <a:rPr sz="4400" b="1" i="0" spc="-20">
                <a:solidFill>
                  <a:srgbClr val="F5F4EE"/>
                </a:solidFill>
                <a:latin typeface="Arial"/>
              </a:rPr>
              <a:t>Assemble an AI company.</a:t>
            </a:r>
          </a:p>
          <a:p>
            <a:pPr algn="ctr">
              <a:lnSpc>
                <a:spcPct val="115000"/>
              </a:lnSpc>
            </a:pPr>
            <a:r>
              <a:rPr sz="4400" b="1" i="0" spc="-20">
                <a:solidFill>
                  <a:srgbClr val="F5F4EE"/>
                </a:solidFill>
                <a:latin typeface="Arial"/>
              </a:rPr>
              <a:t>Give it a goal. Ship.</a:t>
            </a:r>
          </a:p>
        </p:txBody>
      </p:sp>
      <p:sp>
        <p:nvSpPr>
          <p:cNvPr id="5" name="Rounded Rectangle 4"/>
          <p:cNvSpPr/>
          <p:nvPr/>
        </p:nvSpPr>
        <p:spPr>
          <a:xfrm>
            <a:off x="5550408" y="4160520"/>
            <a:ext cx="1097280" cy="54864"/>
          </a:xfrm>
          <a:prstGeom prst="roundRect">
            <a:avLst>
              <a:gd name="adj" fmla="val 50000"/>
            </a:avLst>
          </a:prstGeom>
          <a:solidFill>
            <a:srgbClr val="D977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480560"/>
            <a:ext cx="9994392" cy="457200"/>
          </a:xfrm>
          <a:prstGeom prst="rect">
            <a:avLst/>
          </a:prstGeom>
          <a:noFill/>
        </p:spPr>
        <p:txBody>
          <a:bodyPr wrap="square" anchor="t" lIns="0" rIns="0" tIns="0" bIns="0">
            <a:spAutoFit/>
          </a:bodyPr>
          <a:lstStyle/>
          <a:p>
            <a:pPr algn="ctr"/>
            <a:r>
              <a:rPr sz="1600" b="1" i="0">
                <a:solidFill>
                  <a:srgbClr val="66839A"/>
                </a:solidFill>
                <a:latin typeface="Arial"/>
              </a:rPr>
              <a:t>github.com/bala2006/octopus</a:t>
            </a:r>
          </a:p>
        </p:txBody>
      </p:sp>
      <p:sp>
        <p:nvSpPr>
          <p:cNvPr id="7" name="TextBox 6"/>
          <p:cNvSpPr txBox="1"/>
          <p:nvPr/>
        </p:nvSpPr>
        <p:spPr>
          <a:xfrm>
            <a:off x="1097280" y="5029200"/>
            <a:ext cx="9994392" cy="457200"/>
          </a:xfrm>
          <a:prstGeom prst="rect">
            <a:avLst/>
          </a:prstGeom>
          <a:noFill/>
        </p:spPr>
        <p:txBody>
          <a:bodyPr wrap="square" anchor="t" lIns="0" rIns="0" tIns="0" bIns="0">
            <a:spAutoFit/>
          </a:bodyPr>
          <a:lstStyle/>
          <a:p>
            <a:pPr algn="ctr"/>
            <a:r>
              <a:rPr sz="1500" b="0" i="0">
                <a:solidFill>
                  <a:srgbClr val="A9A69E"/>
                </a:solidFill>
                <a:latin typeface="Arial"/>
              </a:rPr>
              <a:t>Thank you, Vivek.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